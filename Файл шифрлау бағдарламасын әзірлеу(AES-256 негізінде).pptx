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8" r:id="rId4"/>
    <p:sldId id="262" r:id="rId5"/>
    <p:sldId id="263" r:id="rId6"/>
    <p:sldId id="261" r:id="rId7"/>
    <p:sldId id="260" r:id="rId8"/>
    <p:sldId id="259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4" r:id="rId18"/>
    <p:sldId id="271" r:id="rId19"/>
    <p:sldId id="272" r:id="rId2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77773" initials="7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5B106E36-FD25-4E2D-B0AA-010F637433A0}" type="datetimeFigureOut">
              <a:rPr lang="ru-RU" smtClean="0"/>
              <a:pPr/>
              <a:t>12.10.2026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Прямоугольник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Прямоугольник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Прямоугольник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5B106E36-FD25-4E2D-B0AA-010F637433A0}" type="datetimeFigureOut">
              <a:rPr lang="ru-RU" smtClean="0"/>
              <a:pPr/>
              <a:t>12.10.2026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Содержимое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Равнобедренный треугольник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5" name="Прямая соединительная линия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Равнобедренный треугольник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Равнобедренный треугольник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Содержимое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Равнобедренный треугольник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Равнобедренный треугольник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12.10.2026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8" name="Прямая соединительная линия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Прямая соединительная линия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Равнобедренный треугольник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Файл </a:t>
            </a:r>
            <a:r>
              <a:rPr lang="ru-RU" dirty="0" err="1" smtClean="0"/>
              <a:t>шифрлау</a:t>
            </a:r>
            <a:r>
              <a:rPr lang="ru-RU" dirty="0" smtClean="0"/>
              <a:t> </a:t>
            </a:r>
            <a:r>
              <a:rPr lang="ru-RU" dirty="0" err="1" smtClean="0"/>
              <a:t>бағдарламасын әзірлеу</a:t>
            </a:r>
            <a:r>
              <a:rPr lang="ru-RU" dirty="0" smtClean="0"/>
              <a:t>(</a:t>
            </a:r>
            <a:r>
              <a:rPr lang="en-US" dirty="0" smtClean="0"/>
              <a:t>AES-256</a:t>
            </a:r>
            <a:r>
              <a:rPr lang="ru-RU" dirty="0" smtClean="0"/>
              <a:t>)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k-KZ" dirty="0" smtClean="0"/>
              <a:t>Мұхамеджан Мұхамедали ,Дәуренұлы Жандос, Болысов Дархан Рашидулы </a:t>
            </a:r>
            <a:br>
              <a:rPr lang="kk-KZ" dirty="0" smtClean="0"/>
            </a:br>
            <a:r>
              <a:rPr lang="kk-KZ" dirty="0" smtClean="0"/>
              <a:t>ИС24-08К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 smtClean="0"/>
              <a:t>Ақпаратты қорғау </a:t>
            </a:r>
            <a:r>
              <a:rPr lang="ru-RU" dirty="0" smtClean="0"/>
              <a:t>— </a:t>
            </a:r>
            <a:r>
              <a:rPr lang="ru-RU" dirty="0" err="1" smtClean="0"/>
              <a:t>қазіргі заман</a:t>
            </a:r>
            <a:r>
              <a:rPr lang="ru-RU" dirty="0" smtClean="0"/>
              <a:t> </a:t>
            </a:r>
            <a:r>
              <a:rPr lang="ru-RU" dirty="0" err="1" smtClean="0"/>
              <a:t>талабы</a:t>
            </a:r>
            <a:endParaRPr lang="ru-RU" dirty="0"/>
          </a:p>
        </p:txBody>
      </p:sp>
      <p:pic>
        <p:nvPicPr>
          <p:cNvPr id="5" name="Содержимое 4" descr="AES_Encryption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179512" y="1412776"/>
            <a:ext cx="4172272" cy="4104456"/>
          </a:xfrm>
        </p:spPr>
      </p:pic>
      <p:sp>
        <p:nvSpPr>
          <p:cNvPr id="4" name="Содержимое 3"/>
          <p:cNvSpPr>
            <a:spLocks noGrp="1"/>
          </p:cNvSpPr>
          <p:nvPr>
            <p:ph sz="quarter" idx="2"/>
          </p:nvPr>
        </p:nvSpPr>
        <p:spPr/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ru-RU" b="1" dirty="0" err="1" smtClean="0"/>
              <a:t>Ақпараттық қауіпсіздік</a:t>
            </a:r>
            <a:endParaRPr lang="ru-RU" b="1" dirty="0" smtClean="0"/>
          </a:p>
          <a:p>
            <a:pPr>
              <a:buNone/>
            </a:pPr>
            <a:r>
              <a:rPr lang="" dirty="0" smtClean="0"/>
              <a:t>Ж</a:t>
            </a:r>
            <a:r>
              <a:rPr lang="ru-RU" dirty="0" err="1" smtClean="0"/>
              <a:t>еке</a:t>
            </a:r>
            <a:r>
              <a:rPr lang="ru-RU" dirty="0" smtClean="0"/>
              <a:t> </a:t>
            </a:r>
            <a:r>
              <a:rPr lang="ru-RU" dirty="0" err="1" smtClean="0"/>
              <a:t>және маңызды ақпаратты</a:t>
            </a:r>
            <a:endParaRPr lang="ru-RU" dirty="0" smtClean="0"/>
          </a:p>
          <a:p>
            <a:pPr>
              <a:buNone/>
            </a:pPr>
            <a:r>
              <a:rPr lang="ru-RU" dirty="0" err="1" smtClean="0"/>
              <a:t>қорғау қажет.</a:t>
            </a:r>
            <a:endParaRPr lang="ru-RU" dirty="0" smtClean="0"/>
          </a:p>
          <a:p>
            <a:pPr>
              <a:buNone/>
            </a:pPr>
            <a:r>
              <a:rPr lang="ru-RU" dirty="0" err="1" smtClean="0"/>
              <a:t>Ф</a:t>
            </a:r>
            <a:r>
              <a:rPr lang="ru-RU" b="1" dirty="0" err="1" smtClean="0"/>
              <a:t>айлдарды</a:t>
            </a:r>
            <a:r>
              <a:rPr lang="ru-RU" b="1" dirty="0" smtClean="0"/>
              <a:t> </a:t>
            </a:r>
            <a:r>
              <a:rPr lang="ru-RU" b="1" dirty="0" err="1" smtClean="0"/>
              <a:t>қорғау</a:t>
            </a:r>
            <a:endParaRPr lang="ru-RU" b="1" dirty="0" smtClean="0"/>
          </a:p>
          <a:p>
            <a:pPr>
              <a:buNone/>
            </a:pPr>
            <a:r>
              <a:rPr lang="ru-RU" dirty="0" err="1" smtClean="0"/>
              <a:t>Құжаттар </a:t>
            </a:r>
            <a:r>
              <a:rPr lang="ru-RU" dirty="0" smtClean="0"/>
              <a:t>мен </a:t>
            </a:r>
            <a:r>
              <a:rPr lang="ru-RU" dirty="0" err="1" smtClean="0"/>
              <a:t>файлдарды</a:t>
            </a:r>
            <a:endParaRPr lang="ru-RU" dirty="0" smtClean="0"/>
          </a:p>
          <a:p>
            <a:pPr>
              <a:buNone/>
            </a:pPr>
            <a:r>
              <a:rPr lang="ru-RU" dirty="0" err="1" smtClean="0"/>
              <a:t>рұқсатсыз пайдаланудан</a:t>
            </a:r>
            <a:r>
              <a:rPr lang="ru-RU" dirty="0" smtClean="0"/>
              <a:t> </a:t>
            </a:r>
            <a:r>
              <a:rPr lang="ru-RU" dirty="0" err="1" smtClean="0"/>
              <a:t>сақтау.</a:t>
            </a:r>
            <a:endParaRPr lang="ru-RU" dirty="0" smtClean="0"/>
          </a:p>
          <a:p>
            <a:pPr>
              <a:buNone/>
            </a:pPr>
            <a:r>
              <a:rPr lang="ru-RU" dirty="0" err="1" smtClean="0"/>
              <a:t>Р</a:t>
            </a:r>
            <a:r>
              <a:rPr lang="ru-RU" b="1" dirty="0" err="1" smtClean="0"/>
              <a:t>ұқсатсыз қол жеткізу</a:t>
            </a:r>
            <a:endParaRPr lang="ru-RU" b="1" dirty="0" smtClean="0"/>
          </a:p>
          <a:p>
            <a:pPr>
              <a:buNone/>
            </a:pPr>
            <a:r>
              <a:rPr lang="ru-RU" dirty="0" err="1" smtClean="0"/>
              <a:t>Маңызды ақпараттың бөтен</a:t>
            </a:r>
            <a:endParaRPr lang="ru-RU" dirty="0" smtClean="0"/>
          </a:p>
          <a:p>
            <a:pPr>
              <a:buNone/>
            </a:pPr>
            <a:r>
              <a:rPr lang="ru-RU" dirty="0" err="1" smtClean="0"/>
              <a:t>адамдарға өтіп </a:t>
            </a:r>
            <a:r>
              <a:rPr lang="ru-RU" dirty="0" smtClean="0"/>
              <a:t>кету </a:t>
            </a:r>
            <a:r>
              <a:rPr lang="ru-RU" dirty="0" err="1" smtClean="0"/>
              <a:t>қаупі </a:t>
            </a:r>
            <a:r>
              <a:rPr lang="ru-RU" dirty="0" smtClean="0"/>
              <a:t>бар.</a:t>
            </a:r>
          </a:p>
          <a:p>
            <a:pPr>
              <a:buNone/>
            </a:pPr>
            <a:r>
              <a:rPr lang="ru-RU" dirty="0" err="1" smtClean="0"/>
              <a:t>Ш</a:t>
            </a:r>
            <a:r>
              <a:rPr lang="ru-RU" b="1" dirty="0" err="1" smtClean="0"/>
              <a:t>ифрлау</a:t>
            </a:r>
            <a:endParaRPr lang="ru-RU" b="1" dirty="0" smtClean="0"/>
          </a:p>
          <a:p>
            <a:pPr>
              <a:buNone/>
            </a:pPr>
            <a:r>
              <a:rPr lang="ru-RU" dirty="0" err="1" smtClean="0"/>
              <a:t>Шифрлау</a:t>
            </a:r>
            <a:r>
              <a:rPr lang="ru-RU" dirty="0" smtClean="0"/>
              <a:t> </a:t>
            </a:r>
            <a:r>
              <a:rPr lang="ru-RU" dirty="0" err="1" smtClean="0"/>
              <a:t>файлдағы ақпаратты</a:t>
            </a:r>
            <a:endParaRPr lang="ru-RU" dirty="0" smtClean="0"/>
          </a:p>
          <a:p>
            <a:pPr>
              <a:buNone/>
            </a:pPr>
            <a:r>
              <a:rPr lang="ru-RU" dirty="0" err="1" smtClean="0"/>
              <a:t>қорғалған түрге айналдырады</a:t>
            </a:r>
            <a:r>
              <a:rPr lang="ru-RU" dirty="0" smtClean="0"/>
              <a:t>.</a:t>
            </a:r>
          </a:p>
          <a:p>
            <a:endParaRPr lang="ru-RU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 smtClean="0"/>
              <a:t>Шифрлау</a:t>
            </a:r>
            <a:r>
              <a:rPr lang="ru-RU" dirty="0" smtClean="0"/>
              <a:t> </a:t>
            </a:r>
            <a:r>
              <a:rPr lang="ru-RU" dirty="0" err="1" smtClean="0"/>
              <a:t>және оның жұмыс принципі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ru-RU" b="1" dirty="0" err="1" smtClean="0"/>
              <a:t>Шифрлау</a:t>
            </a:r>
            <a:r>
              <a:rPr lang="ru-RU" dirty="0" smtClean="0"/>
              <a:t> — </a:t>
            </a:r>
            <a:r>
              <a:rPr lang="ru-RU" dirty="0" err="1" smtClean="0"/>
              <a:t>ақпаратты арнайы</a:t>
            </a:r>
            <a:r>
              <a:rPr lang="ru-RU" dirty="0" smtClean="0"/>
              <a:t> алгоритм </a:t>
            </a:r>
            <a:r>
              <a:rPr lang="ru-RU" dirty="0" err="1" smtClean="0"/>
              <a:t>арқылы бөгде адамдар</a:t>
            </a:r>
            <a:r>
              <a:rPr lang="ru-RU" dirty="0" smtClean="0"/>
              <a:t> </a:t>
            </a:r>
            <a:r>
              <a:rPr lang="ru-RU" dirty="0" err="1" smtClean="0"/>
              <a:t>оқи алмайтын</a:t>
            </a:r>
            <a:r>
              <a:rPr lang="ru-RU" dirty="0" smtClean="0"/>
              <a:t> </a:t>
            </a:r>
            <a:r>
              <a:rPr lang="ru-RU" dirty="0" err="1" smtClean="0"/>
              <a:t>түрге айналдыру</a:t>
            </a:r>
            <a:r>
              <a:rPr lang="ru-RU" dirty="0" smtClean="0"/>
              <a:t> </a:t>
            </a:r>
            <a:r>
              <a:rPr lang="ru-RU" dirty="0" err="1" smtClean="0"/>
              <a:t>процесі</a:t>
            </a:r>
            <a:r>
              <a:rPr lang="ru-RU" dirty="0" smtClean="0"/>
              <a:t>.</a:t>
            </a:r>
          </a:p>
          <a:p>
            <a:r>
              <a:rPr lang="ru-RU" b="1" dirty="0" err="1" smtClean="0"/>
              <a:t>Ашық мәтін</a:t>
            </a:r>
            <a:r>
              <a:rPr lang="ru-RU" dirty="0" err="1" smtClean="0"/>
              <a:t> </a:t>
            </a:r>
            <a:r>
              <a:rPr lang="ru-RU" dirty="0" smtClean="0"/>
              <a:t>— </a:t>
            </a:r>
            <a:r>
              <a:rPr lang="ru-RU" dirty="0" err="1" smtClean="0"/>
              <a:t>бастапқы </a:t>
            </a:r>
            <a:r>
              <a:rPr lang="ru-RU" dirty="0" smtClean="0"/>
              <a:t>файл </a:t>
            </a:r>
            <a:r>
              <a:rPr lang="ru-RU" dirty="0" err="1" smtClean="0"/>
              <a:t>немесе</a:t>
            </a:r>
            <a:r>
              <a:rPr lang="ru-RU" dirty="0" smtClean="0"/>
              <a:t> </a:t>
            </a:r>
            <a:r>
              <a:rPr lang="ru-RU" dirty="0" err="1" smtClean="0"/>
              <a:t>ақпарат</a:t>
            </a:r>
            <a:r>
              <a:rPr lang="ru-RU" dirty="0" smtClean="0"/>
              <a:t>. </a:t>
            </a:r>
          </a:p>
          <a:p>
            <a:r>
              <a:rPr lang="ru-RU" b="1" dirty="0" err="1" smtClean="0"/>
              <a:t>Кілт</a:t>
            </a:r>
            <a:r>
              <a:rPr lang="ru-RU" dirty="0" smtClean="0"/>
              <a:t> — </a:t>
            </a:r>
            <a:r>
              <a:rPr lang="ru-RU" dirty="0" err="1" smtClean="0"/>
              <a:t>шифрлау</a:t>
            </a:r>
            <a:r>
              <a:rPr lang="ru-RU" dirty="0" smtClean="0"/>
              <a:t> </a:t>
            </a:r>
            <a:r>
              <a:rPr lang="ru-RU" dirty="0" err="1" smtClean="0"/>
              <a:t>үшін қолданылатын құпия мән.</a:t>
            </a:r>
            <a:r>
              <a:rPr lang="ru-RU" dirty="0" smtClean="0"/>
              <a:t> </a:t>
            </a:r>
          </a:p>
          <a:p>
            <a:r>
              <a:rPr lang="ru-RU" b="1" dirty="0" err="1" smtClean="0"/>
              <a:t>Шифрмәтін</a:t>
            </a:r>
            <a:r>
              <a:rPr lang="ru-RU" dirty="0" err="1" smtClean="0"/>
              <a:t> </a:t>
            </a:r>
            <a:r>
              <a:rPr lang="ru-RU" dirty="0" smtClean="0"/>
              <a:t>— </a:t>
            </a:r>
            <a:r>
              <a:rPr lang="ru-RU" dirty="0" err="1" smtClean="0"/>
              <a:t>шифрланған, оқуға түсініксіз ақпарат.</a:t>
            </a:r>
            <a:r>
              <a:rPr lang="ru-RU" dirty="0" smtClean="0"/>
              <a:t> </a:t>
            </a:r>
          </a:p>
          <a:p>
            <a:r>
              <a:rPr lang="ru-RU" b="1" dirty="0" err="1" smtClean="0"/>
              <a:t>Дешифрлау</a:t>
            </a:r>
            <a:r>
              <a:rPr lang="ru-RU" dirty="0" smtClean="0"/>
              <a:t> — </a:t>
            </a:r>
            <a:r>
              <a:rPr lang="ru-RU" dirty="0" err="1" smtClean="0"/>
              <a:t>шифрланған ақпаратты бастапқы күйіне қайтару.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 smtClean="0"/>
              <a:t>Шифрлау</a:t>
            </a:r>
            <a:r>
              <a:rPr lang="ru-RU" dirty="0" smtClean="0"/>
              <a:t> </a:t>
            </a:r>
            <a:r>
              <a:rPr lang="ru-RU" dirty="0" err="1" smtClean="0"/>
              <a:t>және оның жұмыс принципі</a:t>
            </a:r>
            <a:endParaRPr lang="ru-RU" dirty="0"/>
          </a:p>
        </p:txBody>
      </p:sp>
      <p:pic>
        <p:nvPicPr>
          <p:cNvPr id="4" name="Содержимое 3" descr="private-key-encryption.pn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1599785" y="2096865"/>
            <a:ext cx="5944430" cy="3181794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AES — </a:t>
            </a:r>
            <a:r>
              <a:rPr lang="ru-RU" dirty="0" err="1" smtClean="0"/>
              <a:t>заманауи</a:t>
            </a:r>
            <a:r>
              <a:rPr lang="ru-RU" dirty="0" smtClean="0"/>
              <a:t> </a:t>
            </a:r>
            <a:r>
              <a:rPr lang="ru-RU" dirty="0" err="1" smtClean="0"/>
              <a:t>шифрлау</a:t>
            </a:r>
            <a:r>
              <a:rPr lang="ru-RU" dirty="0" smtClean="0"/>
              <a:t> </a:t>
            </a:r>
            <a:r>
              <a:rPr lang="ru-RU" dirty="0" err="1" smtClean="0"/>
              <a:t>алгоритмі</a:t>
            </a:r>
            <a:endParaRPr lang="ru-RU" dirty="0"/>
          </a:p>
        </p:txBody>
      </p:sp>
      <p:pic>
        <p:nvPicPr>
          <p:cNvPr id="5" name="Содержимое 4" descr="4e79465eb02f4422a7c4bba9f99ffa09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323528" y="1484784"/>
            <a:ext cx="4104456" cy="4248472"/>
          </a:xfrm>
        </p:spPr>
      </p:pic>
      <p:sp>
        <p:nvSpPr>
          <p:cNvPr id="4" name="Содержимое 3"/>
          <p:cNvSpPr>
            <a:spLocks noGrp="1"/>
          </p:cNvSpPr>
          <p:nvPr>
            <p:ph sz="quarter" idx="2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 smtClean="0"/>
              <a:t>AES (Advanced Encryption</a:t>
            </a:r>
            <a:endParaRPr lang="kk-KZ" b="1" dirty="0" smtClean="0"/>
          </a:p>
          <a:p>
            <a:pPr>
              <a:buNone/>
            </a:pPr>
            <a:r>
              <a:rPr lang="en-US" b="1" dirty="0" smtClean="0"/>
              <a:t>Standard)</a:t>
            </a:r>
            <a:r>
              <a:rPr lang="en-US" dirty="0" smtClean="0"/>
              <a:t> — </a:t>
            </a:r>
            <a:r>
              <a:rPr lang="ru-RU" dirty="0" err="1" smtClean="0"/>
              <a:t>ақпаратты қорғауға</a:t>
            </a:r>
            <a:endParaRPr lang="ru-RU" dirty="0" smtClean="0"/>
          </a:p>
          <a:p>
            <a:pPr>
              <a:buNone/>
            </a:pPr>
            <a:r>
              <a:rPr lang="ru-RU" dirty="0" err="1" smtClean="0"/>
              <a:t>арналған симметриялық</a:t>
            </a:r>
            <a:endParaRPr lang="ru-RU" dirty="0" smtClean="0"/>
          </a:p>
          <a:p>
            <a:pPr>
              <a:buNone/>
            </a:pPr>
            <a:r>
              <a:rPr lang="ru-RU" dirty="0" err="1" smtClean="0"/>
              <a:t>шифрлау</a:t>
            </a:r>
            <a:r>
              <a:rPr lang="ru-RU" dirty="0" smtClean="0"/>
              <a:t> </a:t>
            </a:r>
            <a:r>
              <a:rPr lang="ru-RU" dirty="0" err="1" smtClean="0"/>
              <a:t>алгоритмі</a:t>
            </a:r>
            <a:r>
              <a:rPr lang="ru-RU" dirty="0" smtClean="0"/>
              <a:t>. </a:t>
            </a:r>
          </a:p>
          <a:p>
            <a:pPr>
              <a:buNone/>
            </a:pPr>
            <a:r>
              <a:rPr lang="ru-RU" dirty="0" err="1" smtClean="0"/>
              <a:t>Бір</a:t>
            </a:r>
            <a:r>
              <a:rPr lang="ru-RU" dirty="0" smtClean="0"/>
              <a:t> </a:t>
            </a:r>
            <a:r>
              <a:rPr lang="ru-RU" b="1" dirty="0" err="1" smtClean="0"/>
              <a:t>құпия кілт</a:t>
            </a:r>
            <a:r>
              <a:rPr lang="ru-RU" dirty="0" smtClean="0"/>
              <a:t> </a:t>
            </a:r>
            <a:r>
              <a:rPr lang="ru-RU" dirty="0" err="1" smtClean="0"/>
              <a:t>шифрлау</a:t>
            </a:r>
            <a:r>
              <a:rPr lang="ru-RU" dirty="0" smtClean="0"/>
              <a:t> </a:t>
            </a:r>
            <a:r>
              <a:rPr lang="ru-RU" dirty="0" err="1" smtClean="0"/>
              <a:t>және</a:t>
            </a:r>
            <a:endParaRPr lang="ru-RU" dirty="0" smtClean="0"/>
          </a:p>
          <a:p>
            <a:pPr>
              <a:buNone/>
            </a:pPr>
            <a:r>
              <a:rPr lang="ru-RU" dirty="0" err="1" smtClean="0"/>
              <a:t>дешифрлау</a:t>
            </a:r>
            <a:r>
              <a:rPr lang="ru-RU" dirty="0" smtClean="0"/>
              <a:t> </a:t>
            </a:r>
            <a:r>
              <a:rPr lang="ru-RU" dirty="0" err="1" smtClean="0"/>
              <a:t>үшін қолданылады.</a:t>
            </a:r>
            <a:r>
              <a:rPr lang="ru-RU" dirty="0" smtClean="0"/>
              <a:t> </a:t>
            </a:r>
          </a:p>
          <a:p>
            <a:pPr>
              <a:buNone/>
            </a:pPr>
            <a:r>
              <a:rPr lang="en-US" dirty="0" smtClean="0"/>
              <a:t>AES </a:t>
            </a:r>
            <a:r>
              <a:rPr lang="en-US" b="1" dirty="0" smtClean="0"/>
              <a:t>128, 192 </a:t>
            </a:r>
            <a:r>
              <a:rPr lang="ru-RU" b="1" dirty="0" err="1" smtClean="0"/>
              <a:t>және </a:t>
            </a:r>
            <a:r>
              <a:rPr lang="ru-RU" b="1" dirty="0" smtClean="0"/>
              <a:t>256 </a:t>
            </a:r>
            <a:r>
              <a:rPr lang="ru-RU" b="1" dirty="0" err="1" smtClean="0"/>
              <a:t>биттік</a:t>
            </a:r>
            <a:endParaRPr lang="ru-RU" dirty="0" smtClean="0"/>
          </a:p>
          <a:p>
            <a:pPr>
              <a:buNone/>
            </a:pPr>
            <a:r>
              <a:rPr lang="ru-RU" dirty="0" err="1" smtClean="0"/>
              <a:t>кілттерді</a:t>
            </a:r>
            <a:r>
              <a:rPr lang="ru-RU" dirty="0" smtClean="0"/>
              <a:t> </a:t>
            </a:r>
            <a:r>
              <a:rPr lang="ru-RU" dirty="0" err="1" smtClean="0"/>
              <a:t>қолдайды.</a:t>
            </a:r>
            <a:r>
              <a:rPr lang="ru-RU" dirty="0" smtClean="0"/>
              <a:t> </a:t>
            </a:r>
          </a:p>
          <a:p>
            <a:pPr>
              <a:buNone/>
            </a:pPr>
            <a:r>
              <a:rPr lang="en-US" b="1" dirty="0" smtClean="0"/>
              <a:t>AES-256</a:t>
            </a:r>
            <a:r>
              <a:rPr lang="en-US" dirty="0" smtClean="0"/>
              <a:t> </a:t>
            </a:r>
            <a:r>
              <a:rPr lang="ru-RU" dirty="0" err="1" smtClean="0"/>
              <a:t>жоғары деңгейдегі</a:t>
            </a:r>
            <a:endParaRPr lang="ru-RU" dirty="0" smtClean="0"/>
          </a:p>
          <a:p>
            <a:pPr>
              <a:buNone/>
            </a:pPr>
            <a:r>
              <a:rPr lang="ru-RU" dirty="0" err="1" smtClean="0"/>
              <a:t>қауіпсіздігімен ерекшеленеді</a:t>
            </a:r>
            <a:endParaRPr lang="ru-RU" dirty="0" smtClean="0"/>
          </a:p>
          <a:p>
            <a:pPr>
              <a:buNone/>
            </a:pPr>
            <a:r>
              <a:rPr lang="ru-RU" dirty="0" err="1" smtClean="0"/>
              <a:t>және файлдарды</a:t>
            </a:r>
            <a:r>
              <a:rPr lang="ru-RU" dirty="0" smtClean="0"/>
              <a:t> </a:t>
            </a:r>
            <a:r>
              <a:rPr lang="ru-RU" dirty="0" err="1" smtClean="0"/>
              <a:t>қорғауда</a:t>
            </a:r>
            <a:endParaRPr lang="ru-RU" dirty="0" smtClean="0"/>
          </a:p>
          <a:p>
            <a:pPr>
              <a:buNone/>
            </a:pPr>
            <a:r>
              <a:rPr lang="ru-RU" dirty="0" err="1" smtClean="0"/>
              <a:t>Қолданылады.</a:t>
            </a:r>
            <a:endParaRPr lang="ru-RU" dirty="0" smtClean="0"/>
          </a:p>
          <a:p>
            <a:pPr>
              <a:buNone/>
            </a:pPr>
            <a:r>
              <a:rPr lang="ru-RU" dirty="0" err="1" smtClean="0"/>
              <a:t>Бастапқы </a:t>
            </a:r>
            <a:r>
              <a:rPr lang="ru-RU" dirty="0" smtClean="0"/>
              <a:t>файл → </a:t>
            </a:r>
            <a:r>
              <a:rPr lang="en-US" dirty="0" smtClean="0"/>
              <a:t>AES-256 </a:t>
            </a:r>
            <a:r>
              <a:rPr lang="ru-RU" dirty="0" err="1" smtClean="0"/>
              <a:t>кілті</a:t>
            </a:r>
            <a:r>
              <a:rPr lang="ru-RU" dirty="0" smtClean="0"/>
              <a:t> →</a:t>
            </a:r>
          </a:p>
          <a:p>
            <a:pPr>
              <a:buNone/>
            </a:pPr>
            <a:r>
              <a:rPr lang="ru-RU" dirty="0" err="1" smtClean="0"/>
              <a:t>Шифрланған </a:t>
            </a:r>
            <a:r>
              <a:rPr lang="ru-RU" dirty="0" smtClean="0"/>
              <a:t>файл</a:t>
            </a:r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Aes</a:t>
            </a:r>
            <a:r>
              <a:rPr lang="en-US" dirty="0" smtClean="0"/>
              <a:t> </a:t>
            </a:r>
            <a:r>
              <a:rPr lang="kk-KZ" dirty="0" smtClean="0"/>
              <a:t>этаптары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 smtClean="0"/>
              <a:t>Keyexpansion</a:t>
            </a:r>
            <a:r>
              <a:rPr lang="en-US" dirty="0" smtClean="0"/>
              <a:t>-</a:t>
            </a:r>
            <a:r>
              <a:rPr lang="ru-RU" dirty="0" err="1" smtClean="0"/>
              <a:t>раундтық кілттерді</a:t>
            </a:r>
            <a:r>
              <a:rPr lang="ru-RU" dirty="0" smtClean="0"/>
              <a:t> </a:t>
            </a:r>
            <a:r>
              <a:rPr lang="ru-RU" dirty="0" err="1" smtClean="0"/>
              <a:t>жасау</a:t>
            </a:r>
            <a:r>
              <a:rPr lang="ru-RU" dirty="0" smtClean="0"/>
              <a:t> </a:t>
            </a:r>
            <a:r>
              <a:rPr lang="ru-RU" dirty="0" err="1" smtClean="0"/>
              <a:t>үшін негізгі</a:t>
            </a:r>
            <a:r>
              <a:rPr lang="ru-RU" dirty="0" smtClean="0"/>
              <a:t> </a:t>
            </a:r>
            <a:r>
              <a:rPr lang="ru-RU" dirty="0" err="1" smtClean="0"/>
              <a:t>кілтті</a:t>
            </a:r>
            <a:r>
              <a:rPr lang="ru-RU" dirty="0" smtClean="0"/>
              <a:t> </a:t>
            </a:r>
            <a:r>
              <a:rPr lang="ru-RU" dirty="0" err="1" smtClean="0"/>
              <a:t>кеңейту процедурасы</a:t>
            </a:r>
            <a:r>
              <a:rPr lang="ru-RU" dirty="0" smtClean="0"/>
              <a:t>, </a:t>
            </a:r>
            <a:r>
              <a:rPr lang="ru-RU" dirty="0" err="1" smtClean="0"/>
              <a:t>содан</a:t>
            </a:r>
            <a:r>
              <a:rPr lang="ru-RU" dirty="0" smtClean="0"/>
              <a:t> </a:t>
            </a:r>
            <a:r>
              <a:rPr lang="ru-RU" dirty="0" err="1" smtClean="0"/>
              <a:t>кейін</a:t>
            </a:r>
            <a:r>
              <a:rPr lang="ru-RU" dirty="0" smtClean="0"/>
              <a:t> </a:t>
            </a:r>
            <a:r>
              <a:rPr lang="ru-RU" dirty="0" err="1" smtClean="0"/>
              <a:t>олар</a:t>
            </a:r>
            <a:r>
              <a:rPr lang="ru-RU" dirty="0" smtClean="0"/>
              <a:t> </a:t>
            </a:r>
            <a:r>
              <a:rPr lang="ru-RU" dirty="0" err="1" smtClean="0"/>
              <a:t>шифрлау</a:t>
            </a:r>
            <a:r>
              <a:rPr lang="ru-RU" dirty="0" smtClean="0"/>
              <a:t> </a:t>
            </a:r>
            <a:r>
              <a:rPr lang="ru-RU" dirty="0" err="1" smtClean="0"/>
              <a:t>раундтарында</a:t>
            </a:r>
            <a:r>
              <a:rPr lang="ru-RU" dirty="0" smtClean="0"/>
              <a:t> </a:t>
            </a:r>
            <a:r>
              <a:rPr lang="ru-RU" dirty="0" err="1" smtClean="0"/>
              <a:t>қолданылады.</a:t>
            </a:r>
            <a:r>
              <a:rPr lang="ru-RU" dirty="0" smtClean="0"/>
              <a:t> </a:t>
            </a:r>
            <a:r>
              <a:rPr lang="ru-RU" dirty="0" err="1" smtClean="0"/>
              <a:t>Жетілдірілген</a:t>
            </a:r>
            <a:r>
              <a:rPr lang="ru-RU" dirty="0" smtClean="0"/>
              <a:t> </a:t>
            </a:r>
            <a:r>
              <a:rPr lang="ru-RU" dirty="0" err="1" smtClean="0"/>
              <a:t>кілт</a:t>
            </a:r>
            <a:r>
              <a:rPr lang="ru-RU" dirty="0" smtClean="0"/>
              <a:t> 44 </a:t>
            </a:r>
            <a:r>
              <a:rPr lang="ru-RU" dirty="0" err="1" smtClean="0"/>
              <a:t>төрт байтты</a:t>
            </a:r>
            <a:r>
              <a:rPr lang="ru-RU" dirty="0" smtClean="0"/>
              <a:t> </a:t>
            </a:r>
            <a:r>
              <a:rPr lang="ru-RU" dirty="0" err="1" smtClean="0"/>
              <a:t>сөзден </a:t>
            </a:r>
            <a:r>
              <a:rPr lang="ru-RU" dirty="0" smtClean="0"/>
              <a:t>(</a:t>
            </a:r>
            <a:r>
              <a:rPr lang="en-US" dirty="0" err="1" smtClean="0"/>
              <a:t>wi</a:t>
            </a:r>
            <a:r>
              <a:rPr lang="en-US" dirty="0" smtClean="0"/>
              <a:t>) </a:t>
            </a:r>
            <a:r>
              <a:rPr lang="ru-RU" dirty="0" err="1" smtClean="0"/>
              <a:t>тұрады: негізгі</a:t>
            </a:r>
            <a:r>
              <a:rPr lang="ru-RU" dirty="0" smtClean="0"/>
              <a:t> </a:t>
            </a:r>
            <a:r>
              <a:rPr lang="ru-RU" dirty="0" err="1" smtClean="0"/>
              <a:t>кілт</a:t>
            </a:r>
            <a:r>
              <a:rPr lang="ru-RU" dirty="0" smtClean="0"/>
              <a:t> </a:t>
            </a:r>
            <a:r>
              <a:rPr lang="ru-RU" dirty="0" err="1" smtClean="0"/>
              <a:t>үшін </a:t>
            </a:r>
            <a:r>
              <a:rPr lang="ru-RU" dirty="0" smtClean="0"/>
              <a:t>4 </a:t>
            </a:r>
            <a:r>
              <a:rPr lang="ru-RU" dirty="0" err="1" smtClean="0"/>
              <a:t>сөз және </a:t>
            </a:r>
            <a:r>
              <a:rPr lang="ru-RU" dirty="0" smtClean="0"/>
              <a:t>10 </a:t>
            </a:r>
            <a:r>
              <a:rPr lang="ru-RU" dirty="0" err="1" smtClean="0"/>
              <a:t>раундтық кілт</a:t>
            </a:r>
            <a:r>
              <a:rPr lang="ru-RU" dirty="0" smtClean="0"/>
              <a:t> </a:t>
            </a:r>
            <a:r>
              <a:rPr lang="ru-RU" dirty="0" err="1" smtClean="0"/>
              <a:t>үшін </a:t>
            </a:r>
            <a:r>
              <a:rPr lang="ru-RU" dirty="0" smtClean="0"/>
              <a:t>4 </a:t>
            </a:r>
            <a:r>
              <a:rPr lang="ru-RU" dirty="0" err="1" smtClean="0"/>
              <a:t>сөз</a:t>
            </a:r>
            <a:r>
              <a:rPr lang="ru-RU" dirty="0" smtClean="0"/>
              <a:t>. </a:t>
            </a:r>
            <a:r>
              <a:rPr lang="ru-RU" dirty="0" err="1" smtClean="0"/>
              <a:t>Осылайша</a:t>
            </a:r>
            <a:r>
              <a:rPr lang="ru-RU" dirty="0" smtClean="0"/>
              <a:t>, </a:t>
            </a:r>
            <a:r>
              <a:rPr lang="ru-RU" dirty="0" err="1" smtClean="0"/>
              <a:t>кеңейтілген кілттің толық </a:t>
            </a:r>
            <a:r>
              <a:rPr lang="ru-RU" dirty="0" smtClean="0"/>
              <a:t>ұзындығы-1408 бит.</a:t>
            </a:r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Aes</a:t>
            </a:r>
            <a:r>
              <a:rPr lang="en-US" dirty="0" smtClean="0"/>
              <a:t> </a:t>
            </a:r>
            <a:r>
              <a:rPr lang="kk-KZ" dirty="0" smtClean="0"/>
              <a:t>этаптары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 smtClean="0"/>
              <a:t>SubBytes</a:t>
            </a:r>
            <a:r>
              <a:rPr lang="en-US" dirty="0" smtClean="0"/>
              <a:t>-S-Box </a:t>
            </a:r>
            <a:r>
              <a:rPr lang="ru-RU" dirty="0" err="1" smtClean="0"/>
              <a:t>кестесі</a:t>
            </a:r>
            <a:r>
              <a:rPr lang="ru-RU" dirty="0" smtClean="0"/>
              <a:t> </a:t>
            </a:r>
            <a:r>
              <a:rPr lang="ru-RU" dirty="0" err="1" smtClean="0"/>
              <a:t>бойынша</a:t>
            </a:r>
            <a:r>
              <a:rPr lang="ru-RU" dirty="0" smtClean="0"/>
              <a:t> </a:t>
            </a:r>
            <a:r>
              <a:rPr lang="ru-RU" dirty="0" err="1" smtClean="0"/>
              <a:t>Мемлекеттік</a:t>
            </a:r>
            <a:r>
              <a:rPr lang="ru-RU" dirty="0" smtClean="0"/>
              <a:t> </a:t>
            </a:r>
            <a:r>
              <a:rPr lang="ru-RU" dirty="0" err="1" smtClean="0"/>
              <a:t>байттарды</a:t>
            </a:r>
            <a:r>
              <a:rPr lang="ru-RU" dirty="0" smtClean="0"/>
              <a:t> </a:t>
            </a:r>
            <a:r>
              <a:rPr lang="ru-RU" dirty="0" err="1" smtClean="0"/>
              <a:t>ауыстыру</a:t>
            </a:r>
            <a:r>
              <a:rPr lang="ru-RU" dirty="0" smtClean="0"/>
              <a:t>. </a:t>
            </a:r>
            <a:r>
              <a:rPr lang="ru-RU" dirty="0" err="1" smtClean="0"/>
              <a:t>Әрбір </a:t>
            </a:r>
            <a:r>
              <a:rPr lang="ru-RU" dirty="0" smtClean="0"/>
              <a:t>байт </a:t>
            </a:r>
            <a:r>
              <a:rPr lang="ru-RU" dirty="0" err="1" smtClean="0"/>
              <a:t>екі</a:t>
            </a:r>
            <a:r>
              <a:rPr lang="ru-RU" dirty="0" smtClean="0"/>
              <a:t> он </a:t>
            </a:r>
            <a:r>
              <a:rPr lang="ru-RU" dirty="0" err="1" smtClean="0"/>
              <a:t>алтылық</a:t>
            </a:r>
            <a:r>
              <a:rPr lang="ru-RU" dirty="0" smtClean="0"/>
              <a:t> </a:t>
            </a:r>
            <a:r>
              <a:rPr lang="en-US" dirty="0" smtClean="0"/>
              <a:t>b = (x, y) </a:t>
            </a:r>
            <a:r>
              <a:rPr lang="ru-RU" dirty="0" err="1" smtClean="0"/>
              <a:t>сандары</a:t>
            </a:r>
            <a:r>
              <a:rPr lang="ru-RU" dirty="0" smtClean="0"/>
              <a:t> </a:t>
            </a:r>
            <a:r>
              <a:rPr lang="ru-RU" dirty="0" err="1" smtClean="0"/>
              <a:t>ретінде</a:t>
            </a:r>
            <a:r>
              <a:rPr lang="ru-RU" dirty="0" smtClean="0"/>
              <a:t> </a:t>
            </a:r>
            <a:r>
              <a:rPr lang="ru-RU" dirty="0" err="1" smtClean="0"/>
              <a:t>ұсынылады, мұндағы</a:t>
            </a:r>
            <a:r>
              <a:rPr lang="ru-RU" dirty="0" smtClean="0"/>
              <a:t> </a:t>
            </a:r>
            <a:r>
              <a:rPr lang="en-US" dirty="0" smtClean="0"/>
              <a:t>x 4 </a:t>
            </a:r>
            <a:r>
              <a:rPr lang="ru-RU" dirty="0" err="1" smtClean="0"/>
              <a:t>Үлкен</a:t>
            </a:r>
            <a:r>
              <a:rPr lang="ru-RU" dirty="0" smtClean="0"/>
              <a:t> </a:t>
            </a:r>
            <a:r>
              <a:rPr lang="en-US" dirty="0" smtClean="0"/>
              <a:t>b, </a:t>
            </a:r>
            <a:r>
              <a:rPr lang="ru-RU" dirty="0" smtClean="0"/>
              <a:t>ал </a:t>
            </a:r>
            <a:r>
              <a:rPr lang="en-US" dirty="0" smtClean="0"/>
              <a:t>y 4 </a:t>
            </a:r>
            <a:r>
              <a:rPr lang="ru-RU" dirty="0" err="1" smtClean="0"/>
              <a:t>кіші</a:t>
            </a:r>
            <a:r>
              <a:rPr lang="ru-RU" dirty="0" smtClean="0"/>
              <a:t> </a:t>
            </a:r>
            <a:r>
              <a:rPr lang="ru-RU" dirty="0" err="1" smtClean="0"/>
              <a:t>сандармен</a:t>
            </a:r>
            <a:r>
              <a:rPr lang="ru-RU" dirty="0" smtClean="0"/>
              <a:t> </a:t>
            </a:r>
            <a:r>
              <a:rPr lang="ru-RU" dirty="0" err="1" smtClean="0"/>
              <a:t>анықталады.</a:t>
            </a:r>
            <a:r>
              <a:rPr lang="ru-RU" dirty="0" smtClean="0"/>
              <a:t> 16</a:t>
            </a:r>
            <a:r>
              <a:rPr lang="en-US" dirty="0" smtClean="0"/>
              <a:t>x16 </a:t>
            </a:r>
            <a:r>
              <a:rPr lang="ru-RU" dirty="0" err="1" smtClean="0"/>
              <a:t>өлшемді</a:t>
            </a:r>
            <a:r>
              <a:rPr lang="ru-RU" dirty="0" smtClean="0"/>
              <a:t> </a:t>
            </a:r>
            <a:r>
              <a:rPr lang="en-US" dirty="0" smtClean="0"/>
              <a:t>S-box </a:t>
            </a:r>
            <a:r>
              <a:rPr lang="ru-RU" dirty="0" err="1" smtClean="0"/>
              <a:t>кестесінде</a:t>
            </a:r>
            <a:r>
              <a:rPr lang="ru-RU" dirty="0" smtClean="0"/>
              <a:t> </a:t>
            </a:r>
            <a:r>
              <a:rPr lang="ru-RU" dirty="0" err="1" smtClean="0"/>
              <a:t>бастапқы байтты</a:t>
            </a:r>
            <a:r>
              <a:rPr lang="ru-RU" dirty="0" smtClean="0"/>
              <a:t> </a:t>
            </a:r>
            <a:r>
              <a:rPr lang="ru-RU" dirty="0" err="1" smtClean="0"/>
              <a:t>ауыстыруға арналған мәндер </a:t>
            </a:r>
            <a:r>
              <a:rPr lang="ru-RU" dirty="0" smtClean="0"/>
              <a:t>бар: </a:t>
            </a:r>
            <a:r>
              <a:rPr lang="en-US" dirty="0" smtClean="0"/>
              <a:t>x </a:t>
            </a:r>
            <a:r>
              <a:rPr lang="ru-RU" dirty="0" err="1" smtClean="0"/>
              <a:t>жолы</a:t>
            </a:r>
            <a:r>
              <a:rPr lang="ru-RU" dirty="0" smtClean="0"/>
              <a:t> мен </a:t>
            </a:r>
            <a:r>
              <a:rPr lang="en-US" dirty="0" smtClean="0"/>
              <a:t>y </a:t>
            </a:r>
            <a:r>
              <a:rPr lang="ru-RU" dirty="0" err="1" smtClean="0"/>
              <a:t>бағанының қиылысындағы</a:t>
            </a:r>
            <a:r>
              <a:rPr lang="ru-RU" dirty="0" smtClean="0"/>
              <a:t> </a:t>
            </a:r>
            <a:r>
              <a:rPr lang="en-US" dirty="0" smtClean="0"/>
              <a:t>b ' </a:t>
            </a:r>
            <a:r>
              <a:rPr lang="ru-RU" dirty="0" err="1" smtClean="0"/>
              <a:t>мәні</a:t>
            </a:r>
            <a:r>
              <a:rPr lang="ru-RU" dirty="0" smtClean="0"/>
              <a:t> </a:t>
            </a:r>
            <a:r>
              <a:rPr lang="en-US" dirty="0" smtClean="0"/>
              <a:t>S-box </a:t>
            </a:r>
            <a:r>
              <a:rPr lang="ru-RU" dirty="0" err="1" smtClean="0"/>
              <a:t>бастапқы</a:t>
            </a:r>
            <a:r>
              <a:rPr lang="ru-RU" dirty="0" smtClean="0"/>
              <a:t> </a:t>
            </a:r>
            <a:r>
              <a:rPr lang="en-US" dirty="0" smtClean="0"/>
              <a:t>b </a:t>
            </a:r>
            <a:r>
              <a:rPr lang="ru-RU" dirty="0" err="1" smtClean="0"/>
              <a:t>байтының орнына</a:t>
            </a:r>
            <a:r>
              <a:rPr lang="ru-RU" dirty="0" smtClean="0"/>
              <a:t> </a:t>
            </a:r>
            <a:r>
              <a:rPr lang="ru-RU" dirty="0" err="1" smtClean="0"/>
              <a:t>қолданылады.</a:t>
            </a:r>
            <a:endParaRPr lang="en-US" dirty="0" smtClean="0"/>
          </a:p>
          <a:p>
            <a:endParaRPr lang="en-US" dirty="0" smtClean="0"/>
          </a:p>
          <a:p>
            <a:r>
              <a:rPr lang="ru-RU" dirty="0" err="1" smtClean="0"/>
              <a:t>AddRoundKey</a:t>
            </a:r>
            <a:r>
              <a:rPr lang="ru-RU" dirty="0" smtClean="0"/>
              <a:t> — </a:t>
            </a:r>
            <a:r>
              <a:rPr lang="ru-RU" dirty="0" err="1" smtClean="0"/>
              <a:t>раундовый</a:t>
            </a:r>
            <a:r>
              <a:rPr lang="ru-RU" dirty="0" smtClean="0"/>
              <a:t> ключ поэлементно добавляется к </a:t>
            </a:r>
            <a:r>
              <a:rPr lang="ru-RU" dirty="0" err="1" smtClean="0"/>
              <a:t>state</a:t>
            </a:r>
            <a:r>
              <a:rPr lang="ru-RU" dirty="0" smtClean="0"/>
              <a:t> с помощью поразрядного XOR.</a:t>
            </a:r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sz="quarter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 smtClean="0"/>
              <a:t>ShiftRows</a:t>
            </a:r>
            <a:r>
              <a:rPr lang="en-US" dirty="0" smtClean="0"/>
              <a:t>-</a:t>
            </a:r>
            <a:r>
              <a:rPr lang="ru-RU" dirty="0" err="1" smtClean="0"/>
              <a:t>мемлекеттік</a:t>
            </a:r>
            <a:r>
              <a:rPr lang="ru-RU" dirty="0" smtClean="0"/>
              <a:t> </a:t>
            </a:r>
            <a:r>
              <a:rPr lang="ru-RU" dirty="0" err="1" smtClean="0"/>
              <a:t>жолдардың циклдік</a:t>
            </a:r>
            <a:r>
              <a:rPr lang="ru-RU" dirty="0" smtClean="0"/>
              <a:t> </a:t>
            </a:r>
            <a:r>
              <a:rPr lang="ru-RU" dirty="0" err="1" smtClean="0"/>
              <a:t>ауысуы</a:t>
            </a:r>
            <a:r>
              <a:rPr lang="ru-RU" dirty="0" smtClean="0"/>
              <a:t>. </a:t>
            </a:r>
            <a:r>
              <a:rPr lang="ru-RU" dirty="0" err="1" smtClean="0"/>
              <a:t>Нөлдік жол</a:t>
            </a:r>
            <a:r>
              <a:rPr lang="ru-RU" dirty="0" smtClean="0"/>
              <a:t> </a:t>
            </a:r>
            <a:r>
              <a:rPr lang="ru-RU" dirty="0" err="1" smtClean="0"/>
              <a:t>орнында</a:t>
            </a:r>
            <a:r>
              <a:rPr lang="ru-RU" dirty="0" smtClean="0"/>
              <a:t> </a:t>
            </a:r>
            <a:r>
              <a:rPr lang="ru-RU" dirty="0" err="1" smtClean="0"/>
              <a:t>қалады, біріншісі</a:t>
            </a:r>
            <a:r>
              <a:rPr lang="ru-RU" dirty="0" smtClean="0"/>
              <a:t> </a:t>
            </a:r>
            <a:r>
              <a:rPr lang="ru-RU" dirty="0" err="1" smtClean="0"/>
              <a:t>солға </a:t>
            </a:r>
            <a:r>
              <a:rPr lang="ru-RU" dirty="0" smtClean="0"/>
              <a:t>1 </a:t>
            </a:r>
            <a:r>
              <a:rPr lang="ru-RU" dirty="0" err="1" smtClean="0"/>
              <a:t>байтқа</a:t>
            </a:r>
            <a:r>
              <a:rPr lang="ru-RU" dirty="0" smtClean="0"/>
              <a:t>, </a:t>
            </a:r>
            <a:r>
              <a:rPr lang="ru-RU" dirty="0" err="1" smtClean="0"/>
              <a:t>екіншісі</a:t>
            </a:r>
            <a:r>
              <a:rPr lang="ru-RU" dirty="0" smtClean="0"/>
              <a:t> 2 </a:t>
            </a:r>
            <a:r>
              <a:rPr lang="ru-RU" dirty="0" err="1" smtClean="0"/>
              <a:t>байтқа және үшіншісі сәйкесінше </a:t>
            </a:r>
            <a:r>
              <a:rPr lang="ru-RU" dirty="0" smtClean="0"/>
              <a:t>3-ке </a:t>
            </a:r>
            <a:r>
              <a:rPr lang="ru-RU" dirty="0" err="1" smtClean="0"/>
              <a:t>ауысады</a:t>
            </a:r>
            <a:r>
              <a:rPr lang="ru-RU" dirty="0" smtClean="0"/>
              <a:t>.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err="1" smtClean="0"/>
              <a:t>MixColumns</a:t>
            </a:r>
            <a:r>
              <a:rPr lang="en-US" dirty="0" smtClean="0"/>
              <a:t>-</a:t>
            </a:r>
            <a:r>
              <a:rPr lang="ru-RU" dirty="0" err="1" smtClean="0"/>
              <a:t>әрбір мемлекеттік</a:t>
            </a:r>
            <a:r>
              <a:rPr lang="ru-RU" dirty="0" smtClean="0"/>
              <a:t> </a:t>
            </a:r>
            <a:r>
              <a:rPr lang="ru-RU" dirty="0" err="1" smtClean="0"/>
              <a:t>бағанды бекітілген</a:t>
            </a:r>
            <a:r>
              <a:rPr lang="ru-RU" dirty="0" smtClean="0"/>
              <a:t> </a:t>
            </a:r>
            <a:r>
              <a:rPr lang="ru-RU" dirty="0" err="1" smtClean="0"/>
              <a:t>матрицаға көбейту.</a:t>
            </a:r>
            <a:r>
              <a:rPr lang="ru-RU" dirty="0" smtClean="0"/>
              <a:t> </a:t>
            </a:r>
            <a:r>
              <a:rPr lang="ru-RU" dirty="0" err="1" smtClean="0"/>
              <a:t>Осылайша</a:t>
            </a:r>
            <a:r>
              <a:rPr lang="ru-RU" dirty="0" smtClean="0"/>
              <a:t>, </a:t>
            </a:r>
            <a:r>
              <a:rPr lang="ru-RU" dirty="0" err="1" smtClean="0"/>
              <a:t>мемлекеттік</a:t>
            </a:r>
            <a:r>
              <a:rPr lang="ru-RU" dirty="0" smtClean="0"/>
              <a:t> </a:t>
            </a:r>
            <a:r>
              <a:rPr lang="ru-RU" dirty="0" err="1" smtClean="0"/>
              <a:t>бағандардың үстінен сызықтық түрлендіру жүзеге асырылады</a:t>
            </a:r>
            <a:r>
              <a:rPr lang="ru-RU" dirty="0" smtClean="0"/>
              <a:t>. </a:t>
            </a:r>
            <a:r>
              <a:rPr lang="ru-RU" dirty="0" err="1" smtClean="0"/>
              <a:t>Сонымен</a:t>
            </a:r>
            <a:r>
              <a:rPr lang="ru-RU" dirty="0" smtClean="0"/>
              <a:t> </a:t>
            </a:r>
            <a:r>
              <a:rPr lang="ru-RU" dirty="0" err="1" smtClean="0"/>
              <a:t>қатар, көбейту және қосу жоғарыда сипатталған ережелерге</a:t>
            </a:r>
            <a:r>
              <a:rPr lang="ru-RU" dirty="0" smtClean="0"/>
              <a:t> </a:t>
            </a:r>
            <a:r>
              <a:rPr lang="ru-RU" dirty="0" err="1" smtClean="0"/>
              <a:t>сәйкес жүзеге асырылады</a:t>
            </a:r>
            <a:r>
              <a:rPr lang="ru-RU" dirty="0" smtClean="0"/>
              <a:t>.</a:t>
            </a:r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habrastorage.org/r/w1560/getpro/habr/upload_files/2b5/9b7/074/2b59b70741e073f7e3a927c12e2e26d7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116632"/>
            <a:ext cx="3059832" cy="26466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028" name="Picture 4" descr="https://habrastorage.org/r/w1560/getpro/habr/upload_files/a8c/bee/fd7/a8cbeefd7ce10c041591db8311963689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4048" y="332656"/>
            <a:ext cx="3816423" cy="22179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030" name="Picture 6" descr="https://habrastorage.org/r/w1560/getpro/habr/upload_files/d79/905/0e3/d799050e34f3954655780cba5c41ed65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15616" y="3212976"/>
            <a:ext cx="3266237" cy="25922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032" name="Picture 8" descr="https://habrastorage.org/r/w1560/getpro/habr/upload_files/16e/c8a/dda/16ec8adda814ad1445eab2ff425f6033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932040" y="3068960"/>
            <a:ext cx="3744416" cy="27363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AES-256 </a:t>
            </a:r>
            <a:r>
              <a:rPr lang="ru-RU" dirty="0" err="1" smtClean="0"/>
              <a:t>қауіпсіздігі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67544" y="1556792"/>
            <a:ext cx="4038600" cy="4525963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ru-RU" b="1" dirty="0" smtClean="0"/>
              <a:t>256 </a:t>
            </a:r>
            <a:r>
              <a:rPr lang="ru-RU" b="1" dirty="0" err="1" smtClean="0"/>
              <a:t>биттік</a:t>
            </a:r>
            <a:r>
              <a:rPr lang="ru-RU" b="1" dirty="0" smtClean="0"/>
              <a:t> </a:t>
            </a:r>
            <a:r>
              <a:rPr lang="ru-RU" b="1" dirty="0" err="1" smtClean="0"/>
              <a:t>кілт</a:t>
            </a:r>
            <a:r>
              <a:rPr lang="ru-RU" dirty="0" smtClean="0"/>
              <a:t> — </a:t>
            </a:r>
            <a:r>
              <a:rPr lang="ru-RU" dirty="0" err="1" smtClean="0"/>
              <a:t>кілт</a:t>
            </a:r>
            <a:r>
              <a:rPr lang="ru-RU" dirty="0" smtClean="0"/>
              <a:t> </a:t>
            </a:r>
            <a:r>
              <a:rPr lang="ru-RU" dirty="0" err="1" smtClean="0"/>
              <a:t>ұзындығы</a:t>
            </a:r>
            <a:endParaRPr lang="ru-RU" dirty="0" smtClean="0"/>
          </a:p>
          <a:p>
            <a:pPr>
              <a:buNone/>
            </a:pPr>
            <a:r>
              <a:rPr lang="ru-RU" dirty="0" err="1" smtClean="0"/>
              <a:t>жоғары деңгейдегі қорғауды</a:t>
            </a:r>
            <a:endParaRPr lang="ru-RU" dirty="0" smtClean="0"/>
          </a:p>
          <a:p>
            <a:pPr>
              <a:buNone/>
            </a:pPr>
            <a:r>
              <a:rPr lang="ru-RU" dirty="0" err="1" smtClean="0"/>
              <a:t>қамтамасыз етеді</a:t>
            </a:r>
            <a:r>
              <a:rPr lang="ru-RU" dirty="0" smtClean="0"/>
              <a:t>. </a:t>
            </a:r>
          </a:p>
          <a:p>
            <a:pPr>
              <a:buNone/>
            </a:pPr>
            <a:r>
              <a:rPr lang="ru-RU" b="1" dirty="0" err="1" smtClean="0"/>
              <a:t>Күшті шифрлау</a:t>
            </a:r>
            <a:r>
              <a:rPr lang="ru-RU" dirty="0" smtClean="0"/>
              <a:t> — </a:t>
            </a:r>
            <a:r>
              <a:rPr lang="ru-RU" dirty="0" err="1" smtClean="0"/>
              <a:t>файлдағы</a:t>
            </a:r>
            <a:endParaRPr lang="ru-RU" dirty="0" smtClean="0"/>
          </a:p>
          <a:p>
            <a:pPr>
              <a:buNone/>
            </a:pPr>
            <a:r>
              <a:rPr lang="ru-RU" dirty="0" err="1" smtClean="0"/>
              <a:t>ақпаратты рұқсатсыз оқудан</a:t>
            </a:r>
            <a:endParaRPr lang="ru-RU" dirty="0" smtClean="0"/>
          </a:p>
          <a:p>
            <a:pPr>
              <a:buNone/>
            </a:pPr>
            <a:r>
              <a:rPr lang="ru-RU" dirty="0" err="1" smtClean="0"/>
              <a:t>қорғайды.</a:t>
            </a:r>
            <a:r>
              <a:rPr lang="ru-RU" dirty="0" smtClean="0"/>
              <a:t> </a:t>
            </a:r>
          </a:p>
          <a:p>
            <a:pPr>
              <a:buNone/>
            </a:pPr>
            <a:r>
              <a:rPr lang="ru-RU" b="1" dirty="0" err="1" smtClean="0"/>
              <a:t>Файлдарды</a:t>
            </a:r>
            <a:r>
              <a:rPr lang="ru-RU" b="1" dirty="0" smtClean="0"/>
              <a:t> </a:t>
            </a:r>
            <a:r>
              <a:rPr lang="ru-RU" b="1" dirty="0" err="1" smtClean="0"/>
              <a:t>қорғау</a:t>
            </a:r>
            <a:r>
              <a:rPr lang="ru-RU" dirty="0" err="1" smtClean="0"/>
              <a:t> </a:t>
            </a:r>
            <a:r>
              <a:rPr lang="ru-RU" dirty="0" smtClean="0"/>
              <a:t>— </a:t>
            </a:r>
            <a:r>
              <a:rPr lang="ru-RU" dirty="0" err="1" smtClean="0"/>
              <a:t>құжаттар,</a:t>
            </a:r>
            <a:endParaRPr lang="ru-RU" dirty="0" smtClean="0"/>
          </a:p>
          <a:p>
            <a:pPr>
              <a:buNone/>
            </a:pPr>
            <a:r>
              <a:rPr lang="ru-RU" dirty="0" err="1" smtClean="0"/>
              <a:t>суреттер</a:t>
            </a:r>
            <a:r>
              <a:rPr lang="ru-RU" dirty="0" smtClean="0"/>
              <a:t> </a:t>
            </a:r>
            <a:r>
              <a:rPr lang="ru-RU" dirty="0" err="1" smtClean="0"/>
              <a:t>және басқа файлдарды</a:t>
            </a:r>
            <a:endParaRPr lang="ru-RU" dirty="0" smtClean="0"/>
          </a:p>
          <a:p>
            <a:pPr>
              <a:buNone/>
            </a:pPr>
            <a:r>
              <a:rPr lang="ru-RU" dirty="0" err="1" smtClean="0"/>
              <a:t>шифрлауға болады</a:t>
            </a:r>
            <a:r>
              <a:rPr lang="ru-RU" dirty="0" smtClean="0"/>
              <a:t>. </a:t>
            </a:r>
          </a:p>
          <a:p>
            <a:pPr>
              <a:buNone/>
            </a:pPr>
            <a:r>
              <a:rPr lang="ru-RU" b="1" dirty="0" err="1" smtClean="0"/>
              <a:t>Кең қолданылады</a:t>
            </a:r>
            <a:r>
              <a:rPr lang="ru-RU" dirty="0" err="1" smtClean="0"/>
              <a:t> </a:t>
            </a:r>
            <a:r>
              <a:rPr lang="ru-RU" dirty="0" smtClean="0"/>
              <a:t>— </a:t>
            </a:r>
            <a:r>
              <a:rPr lang="ru-RU" dirty="0" err="1" smtClean="0"/>
              <a:t>ақпараттық</a:t>
            </a:r>
            <a:endParaRPr lang="ru-RU" dirty="0" smtClean="0"/>
          </a:p>
          <a:p>
            <a:pPr>
              <a:buNone/>
            </a:pPr>
            <a:r>
              <a:rPr lang="ru-RU" dirty="0" err="1" smtClean="0"/>
              <a:t>жүйелерде және деректерді</a:t>
            </a:r>
            <a:r>
              <a:rPr lang="ru-RU" dirty="0" smtClean="0"/>
              <a:t> </a:t>
            </a:r>
            <a:r>
              <a:rPr lang="ru-RU" dirty="0" err="1" smtClean="0"/>
              <a:t>қорғау</a:t>
            </a:r>
            <a:endParaRPr lang="ru-RU" dirty="0" smtClean="0"/>
          </a:p>
          <a:p>
            <a:pPr>
              <a:buNone/>
            </a:pPr>
            <a:r>
              <a:rPr lang="ru-RU" dirty="0" err="1" smtClean="0"/>
              <a:t>Бағдарламаларында</a:t>
            </a:r>
            <a:endParaRPr lang="ru-RU" dirty="0" smtClean="0"/>
          </a:p>
          <a:p>
            <a:pPr>
              <a:buNone/>
            </a:pPr>
            <a:r>
              <a:rPr lang="ru-RU" dirty="0" err="1" smtClean="0"/>
              <a:t>пайдаланылады</a:t>
            </a:r>
            <a:r>
              <a:rPr lang="ru-RU" dirty="0" smtClean="0"/>
              <a:t>.</a:t>
            </a:r>
          </a:p>
          <a:p>
            <a:pPr>
              <a:buNone/>
            </a:pPr>
            <a:r>
              <a:rPr lang="ru-RU" dirty="0" smtClean="0"/>
              <a:t>256 </a:t>
            </a:r>
            <a:r>
              <a:rPr lang="ru-RU" dirty="0" err="1" smtClean="0"/>
              <a:t>биттік</a:t>
            </a:r>
            <a:r>
              <a:rPr lang="ru-RU" dirty="0" smtClean="0"/>
              <a:t> </a:t>
            </a:r>
            <a:r>
              <a:rPr lang="ru-RU" dirty="0" err="1" smtClean="0"/>
              <a:t>кілт</a:t>
            </a:r>
            <a:r>
              <a:rPr lang="ru-RU" dirty="0" smtClean="0"/>
              <a:t> → </a:t>
            </a:r>
            <a:r>
              <a:rPr lang="en-US" dirty="0" smtClean="0"/>
              <a:t>AES-256 → </a:t>
            </a:r>
            <a:endParaRPr lang="kk-KZ" dirty="0" smtClean="0"/>
          </a:p>
          <a:p>
            <a:pPr>
              <a:buNone/>
            </a:pPr>
            <a:r>
              <a:rPr lang="ru-RU" dirty="0" err="1" smtClean="0"/>
              <a:t>Қорғалған </a:t>
            </a:r>
            <a:r>
              <a:rPr lang="ru-RU" dirty="0" smtClean="0"/>
              <a:t>файл</a:t>
            </a:r>
            <a:endParaRPr lang="ru-RU" dirty="0"/>
          </a:p>
        </p:txBody>
      </p:sp>
      <p:pic>
        <p:nvPicPr>
          <p:cNvPr id="5" name="Содержимое 4" descr="images (3).jpg"/>
          <p:cNvPicPr>
            <a:picLocks noGrp="1" noChangeAspect="1"/>
          </p:cNvPicPr>
          <p:nvPr>
            <p:ph sz="quarter" idx="2"/>
          </p:nvPr>
        </p:nvPicPr>
        <p:blipFill>
          <a:blip r:embed="rId2" cstate="print"/>
          <a:stretch>
            <a:fillRect/>
          </a:stretch>
        </p:blipFill>
        <p:spPr>
          <a:xfrm>
            <a:off x="4632325" y="2549718"/>
            <a:ext cx="4041775" cy="2269738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Бағдарлама </a:t>
            </a:r>
            <a:r>
              <a:rPr lang="ru-RU" dirty="0" smtClean="0"/>
              <a:t>не </a:t>
            </a:r>
            <a:r>
              <a:rPr lang="ru-RU" dirty="0" err="1" smtClean="0"/>
              <a:t>істей</a:t>
            </a:r>
            <a:r>
              <a:rPr lang="ru-RU" dirty="0" smtClean="0"/>
              <a:t> </a:t>
            </a:r>
            <a:r>
              <a:rPr lang="ru-RU" dirty="0" err="1" smtClean="0"/>
              <a:t>алады</a:t>
            </a:r>
            <a:r>
              <a:rPr lang="ru-RU" dirty="0" smtClean="0"/>
              <a:t>?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pPr algn="ctr"/>
            <a:endParaRPr lang="kk-KZ" dirty="0" smtClean="0"/>
          </a:p>
          <a:p>
            <a:pPr algn="ctr"/>
            <a:endParaRPr lang="kk-KZ" dirty="0" smtClean="0"/>
          </a:p>
          <a:p>
            <a:pPr algn="ctr"/>
            <a:endParaRPr lang="kk-KZ" dirty="0" smtClean="0"/>
          </a:p>
          <a:p>
            <a:pPr algn="ctr"/>
            <a:endParaRPr lang="kk-KZ" b="1" dirty="0" smtClean="0"/>
          </a:p>
          <a:p>
            <a:pPr algn="ctr"/>
            <a:endParaRPr lang="kk-KZ" b="1" dirty="0" smtClean="0"/>
          </a:p>
          <a:p>
            <a:pPr algn="ctr"/>
            <a:endParaRPr lang="kk-KZ" b="1" dirty="0" smtClean="0"/>
          </a:p>
          <a:p>
            <a:pPr algn="ctr">
              <a:buNone/>
            </a:pPr>
            <a:r>
              <a:rPr lang="en-US" b="1" dirty="0" smtClean="0"/>
              <a:t>AES-256 File </a:t>
            </a:r>
            <a:r>
              <a:rPr lang="en-US" b="1" dirty="0" err="1" smtClean="0"/>
              <a:t>Encryptor</a:t>
            </a:r>
            <a:endParaRPr lang="ru-RU" b="1" dirty="0"/>
          </a:p>
        </p:txBody>
      </p:sp>
      <p:sp>
        <p:nvSpPr>
          <p:cNvPr id="4" name="Содержимое 3"/>
          <p:cNvSpPr>
            <a:spLocks noGrp="1"/>
          </p:cNvSpPr>
          <p:nvPr>
            <p:ph sz="quarter" idx="2"/>
          </p:nvPr>
        </p:nvSpPr>
        <p:spPr/>
        <p:txBody>
          <a:bodyPr>
            <a:normAutofit fontScale="77500" lnSpcReduction="20000"/>
          </a:bodyPr>
          <a:lstStyle/>
          <a:p>
            <a:pPr algn="ctr">
              <a:buNone/>
            </a:pPr>
            <a:r>
              <a:rPr lang="kk-KZ" dirty="0" smtClean="0"/>
              <a:t>Файл таңдау</a:t>
            </a:r>
            <a:endParaRPr lang="en-US" dirty="0" smtClean="0"/>
          </a:p>
          <a:p>
            <a:pPr algn="ctr">
              <a:buNone/>
            </a:pPr>
            <a:r>
              <a:rPr lang="en-US" dirty="0" smtClean="0"/>
              <a:t>|</a:t>
            </a:r>
            <a:br>
              <a:rPr lang="en-US" dirty="0" smtClean="0"/>
            </a:br>
            <a:r>
              <a:rPr lang="ru-RU" dirty="0" err="1" smtClean="0"/>
              <a:t>Файлды</a:t>
            </a:r>
            <a:r>
              <a:rPr lang="ru-RU" dirty="0" smtClean="0"/>
              <a:t> </a:t>
            </a:r>
            <a:r>
              <a:rPr lang="ru-RU" dirty="0" err="1" smtClean="0"/>
              <a:t>шифрлау</a:t>
            </a:r>
            <a:endParaRPr lang="en-US" dirty="0" smtClean="0"/>
          </a:p>
          <a:p>
            <a:pPr algn="ctr">
              <a:buNone/>
            </a:pPr>
            <a:r>
              <a:rPr lang="en-US" dirty="0" smtClean="0"/>
              <a:t>|</a:t>
            </a:r>
          </a:p>
          <a:p>
            <a:pPr algn="ctr">
              <a:buNone/>
            </a:pPr>
            <a:r>
              <a:rPr lang="ru-RU" dirty="0" err="1" smtClean="0"/>
              <a:t>Файлды</a:t>
            </a:r>
            <a:r>
              <a:rPr lang="ru-RU" dirty="0" smtClean="0"/>
              <a:t> </a:t>
            </a:r>
            <a:r>
              <a:rPr lang="ru-RU" dirty="0" err="1" smtClean="0"/>
              <a:t>дешифрлау</a:t>
            </a:r>
            <a:endParaRPr lang="en-US" dirty="0" smtClean="0"/>
          </a:p>
          <a:p>
            <a:pPr algn="ctr">
              <a:buNone/>
            </a:pPr>
            <a:r>
              <a:rPr lang="en-US" dirty="0" smtClean="0"/>
              <a:t>|</a:t>
            </a:r>
          </a:p>
          <a:p>
            <a:pPr algn="ctr">
              <a:buNone/>
            </a:pPr>
            <a:r>
              <a:rPr lang="ru-RU" dirty="0" err="1" smtClean="0"/>
              <a:t>Нәтижені сақтау</a:t>
            </a:r>
            <a:endParaRPr lang="ru-RU" dirty="0" smtClean="0"/>
          </a:p>
          <a:p>
            <a:pPr algn="ctr">
              <a:buNone/>
            </a:pPr>
            <a:endParaRPr lang="ru-RU" dirty="0" smtClean="0"/>
          </a:p>
          <a:p>
            <a:pPr>
              <a:buNone/>
            </a:pPr>
            <a:r>
              <a:rPr lang="ru-RU" dirty="0" err="1" smtClean="0"/>
              <a:t>Бағдарлама пайдаланушыға</a:t>
            </a:r>
            <a:endParaRPr lang="ru-RU" dirty="0" smtClean="0"/>
          </a:p>
          <a:p>
            <a:pPr>
              <a:buNone/>
            </a:pPr>
            <a:r>
              <a:rPr lang="ru-RU" dirty="0" err="1" smtClean="0"/>
              <a:t>қажетті файлды</a:t>
            </a:r>
            <a:r>
              <a:rPr lang="ru-RU" dirty="0" smtClean="0"/>
              <a:t> </a:t>
            </a:r>
            <a:r>
              <a:rPr lang="ru-RU" dirty="0" err="1" smtClean="0"/>
              <a:t>таңдап, </a:t>
            </a:r>
            <a:r>
              <a:rPr lang="ru-RU" dirty="0" smtClean="0"/>
              <a:t>оны </a:t>
            </a:r>
            <a:r>
              <a:rPr lang="en-US" dirty="0" smtClean="0"/>
              <a:t>AES</a:t>
            </a:r>
            <a:endParaRPr lang="kk-KZ" dirty="0" smtClean="0"/>
          </a:p>
          <a:p>
            <a:pPr>
              <a:buNone/>
            </a:pPr>
            <a:r>
              <a:rPr lang="en-US" dirty="0" smtClean="0"/>
              <a:t>256 </a:t>
            </a:r>
            <a:r>
              <a:rPr lang="ru-RU" dirty="0" err="1" smtClean="0"/>
              <a:t>алгоритмі</a:t>
            </a:r>
            <a:r>
              <a:rPr lang="ru-RU" dirty="0" smtClean="0"/>
              <a:t> </a:t>
            </a:r>
            <a:r>
              <a:rPr lang="ru-RU" dirty="0" err="1" smtClean="0"/>
              <a:t>арқылы шифрлауға</a:t>
            </a:r>
            <a:endParaRPr lang="ru-RU" dirty="0" smtClean="0"/>
          </a:p>
          <a:p>
            <a:pPr>
              <a:buNone/>
            </a:pPr>
            <a:r>
              <a:rPr lang="ru-RU" dirty="0" err="1" smtClean="0"/>
              <a:t>және кейін</a:t>
            </a:r>
            <a:r>
              <a:rPr lang="ru-RU" dirty="0" smtClean="0"/>
              <a:t> </a:t>
            </a:r>
            <a:r>
              <a:rPr lang="ru-RU" dirty="0" err="1" smtClean="0"/>
              <a:t>бастапқы күйіне қайта</a:t>
            </a:r>
            <a:endParaRPr lang="ru-RU" dirty="0" smtClean="0"/>
          </a:p>
          <a:p>
            <a:pPr>
              <a:buNone/>
            </a:pPr>
            <a:r>
              <a:rPr lang="ru-RU" dirty="0" err="1" smtClean="0"/>
              <a:t>келтіруге</a:t>
            </a:r>
            <a:r>
              <a:rPr lang="ru-RU" dirty="0" smtClean="0"/>
              <a:t> </a:t>
            </a:r>
            <a:r>
              <a:rPr lang="ru-RU" dirty="0" err="1" smtClean="0"/>
              <a:t>мүмкіндік береді</a:t>
            </a:r>
            <a:r>
              <a:rPr lang="ru-RU" dirty="0" smtClean="0"/>
              <a:t>.</a:t>
            </a:r>
            <a:r>
              <a:rPr lang="kk-KZ" dirty="0" smtClean="0"/>
              <a:t/>
            </a:r>
            <a:br>
              <a:rPr lang="kk-KZ" dirty="0" smtClean="0"/>
            </a:br>
            <a:endParaRPr lang="" dirty="0" smtClean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260648"/>
            <a:ext cx="8280920" cy="648072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err="1" smtClean="0"/>
              <a:t>Жобада</a:t>
            </a:r>
            <a:r>
              <a:rPr lang="ru-RU" dirty="0" smtClean="0"/>
              <a:t> </a:t>
            </a:r>
            <a:r>
              <a:rPr lang="ru-RU" dirty="0" err="1" smtClean="0"/>
              <a:t>қолданылған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err="1" smtClean="0"/>
              <a:t>технологиялар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67544" y="5157192"/>
            <a:ext cx="7772400" cy="864096"/>
          </a:xfrm>
        </p:spPr>
        <p:txBody>
          <a:bodyPr>
            <a:normAutofit/>
          </a:bodyPr>
          <a:lstStyle/>
          <a:p>
            <a:r>
              <a:rPr lang="ru-RU" dirty="0" smtClean="0">
                <a:solidFill>
                  <a:schemeClr val="tx1"/>
                </a:solidFill>
              </a:rPr>
              <a:t>Осы </a:t>
            </a:r>
            <a:r>
              <a:rPr lang="ru-RU" dirty="0" err="1" smtClean="0">
                <a:solidFill>
                  <a:schemeClr val="tx1"/>
                </a:solidFill>
              </a:rPr>
              <a:t>технологиялар</a:t>
            </a: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ru-RU" dirty="0" err="1" smtClean="0">
                <a:solidFill>
                  <a:schemeClr val="tx1"/>
                </a:solidFill>
              </a:rPr>
              <a:t>біріктіріліп</a:t>
            </a:r>
            <a:r>
              <a:rPr lang="ru-RU" dirty="0" smtClean="0">
                <a:solidFill>
                  <a:schemeClr val="tx1"/>
                </a:solidFill>
              </a:rPr>
              <a:t>, </a:t>
            </a:r>
            <a:r>
              <a:rPr lang="ru-RU" dirty="0" err="1" smtClean="0">
                <a:solidFill>
                  <a:schemeClr val="tx1"/>
                </a:solidFill>
              </a:rPr>
              <a:t>файлдарды</a:t>
            </a: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ru-RU" dirty="0" err="1" smtClean="0">
                <a:solidFill>
                  <a:schemeClr val="tx1"/>
                </a:solidFill>
              </a:rPr>
              <a:t>шифрлау</a:t>
            </a: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ru-RU" dirty="0" err="1" smtClean="0">
                <a:solidFill>
                  <a:schemeClr val="tx1"/>
                </a:solidFill>
              </a:rPr>
              <a:t>және дешифрлау</a:t>
            </a: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ru-RU" dirty="0" err="1" smtClean="0">
                <a:solidFill>
                  <a:schemeClr val="tx1"/>
                </a:solidFill>
              </a:rPr>
              <a:t>мүмкіндігі </a:t>
            </a:r>
            <a:r>
              <a:rPr lang="ru-RU" dirty="0" smtClean="0">
                <a:solidFill>
                  <a:schemeClr val="tx1"/>
                </a:solidFill>
              </a:rPr>
              <a:t>бар </a:t>
            </a:r>
            <a:r>
              <a:rPr lang="ru-RU" dirty="0" err="1" smtClean="0">
                <a:solidFill>
                  <a:schemeClr val="tx1"/>
                </a:solidFill>
              </a:rPr>
              <a:t>бағдарлама жасалды</a:t>
            </a:r>
            <a:r>
              <a:rPr lang="ru-RU" dirty="0" smtClean="0">
                <a:solidFill>
                  <a:schemeClr val="tx1"/>
                </a:solidFill>
              </a:rPr>
              <a:t>.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556792"/>
            <a:ext cx="7704856" cy="3312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 smtClean="0"/>
              <a:t>Бағдарлама қандай бөліктерден тұрады?</a:t>
            </a:r>
            <a:endParaRPr lang="ru-RU" dirty="0"/>
          </a:p>
        </p:txBody>
      </p:sp>
      <p:sp>
        <p:nvSpPr>
          <p:cNvPr id="5" name="Содержимое 4"/>
          <p:cNvSpPr>
            <a:spLocks noGrp="1"/>
          </p:cNvSpPr>
          <p:nvPr>
            <p:ph sz="quarter" idx="1"/>
          </p:nvPr>
        </p:nvSpPr>
        <p:spPr>
          <a:xfrm>
            <a:off x="467544" y="1556792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dirty="0" smtClean="0"/>
              <a:t>1. </a:t>
            </a:r>
            <a:r>
              <a:rPr lang="ru-RU" dirty="0" err="1" smtClean="0"/>
              <a:t>Файлды</a:t>
            </a:r>
            <a:r>
              <a:rPr lang="ru-RU" dirty="0" smtClean="0"/>
              <a:t> </a:t>
            </a:r>
            <a:r>
              <a:rPr lang="ru-RU" dirty="0" err="1" smtClean="0"/>
              <a:t>таңдау: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err="1" smtClean="0"/>
              <a:t>Қолданушы қажетті файлды</a:t>
            </a:r>
            <a:r>
              <a:rPr lang="ru-RU" dirty="0" smtClean="0"/>
              <a:t> </a:t>
            </a:r>
            <a:r>
              <a:rPr lang="ru-RU" dirty="0" err="1" smtClean="0"/>
              <a:t>таңдайды.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2. </a:t>
            </a:r>
            <a:r>
              <a:rPr lang="ru-RU" dirty="0" err="1" smtClean="0"/>
              <a:t>Шифрлау</a:t>
            </a:r>
            <a:r>
              <a:rPr lang="ru-RU" dirty="0" smtClean="0"/>
              <a:t> </a:t>
            </a:r>
            <a:r>
              <a:rPr lang="ru-RU" dirty="0" err="1" smtClean="0"/>
              <a:t>модулі</a:t>
            </a:r>
            <a:r>
              <a:rPr lang="ru-RU" dirty="0" smtClean="0"/>
              <a:t>:</a:t>
            </a:r>
            <a:br>
              <a:rPr lang="ru-RU" dirty="0" smtClean="0"/>
            </a:br>
            <a:r>
              <a:rPr lang="ru-RU" dirty="0" smtClean="0"/>
              <a:t>Файл </a:t>
            </a:r>
            <a:r>
              <a:rPr lang="en-US" dirty="0" smtClean="0"/>
              <a:t>AES-256 </a:t>
            </a:r>
            <a:r>
              <a:rPr lang="ru-RU" dirty="0" err="1" smtClean="0"/>
              <a:t>алгоритмі</a:t>
            </a:r>
            <a:r>
              <a:rPr lang="ru-RU" dirty="0" smtClean="0"/>
              <a:t> </a:t>
            </a:r>
            <a:r>
              <a:rPr lang="ru-RU" dirty="0" err="1" smtClean="0"/>
              <a:t>арқылы шифрланады</a:t>
            </a:r>
            <a:r>
              <a:rPr lang="ru-RU" dirty="0" smtClean="0"/>
              <a:t>.</a:t>
            </a:r>
          </a:p>
          <a:p>
            <a:pPr>
              <a:buNone/>
            </a:pPr>
            <a:r>
              <a:rPr lang="ru-RU" dirty="0" smtClean="0"/>
              <a:t>3. </a:t>
            </a:r>
            <a:r>
              <a:rPr lang="ru-RU" dirty="0" err="1" smtClean="0"/>
              <a:t>Дешифрлау</a:t>
            </a:r>
            <a:r>
              <a:rPr lang="ru-RU" dirty="0" smtClean="0"/>
              <a:t> </a:t>
            </a:r>
            <a:r>
              <a:rPr lang="ru-RU" dirty="0" err="1" smtClean="0"/>
              <a:t>модулі</a:t>
            </a:r>
            <a:r>
              <a:rPr lang="ru-RU" dirty="0" smtClean="0"/>
              <a:t>:</a:t>
            </a:r>
            <a:br>
              <a:rPr lang="ru-RU" dirty="0" smtClean="0"/>
            </a:br>
            <a:r>
              <a:rPr lang="ru-RU" dirty="0" err="1" smtClean="0"/>
              <a:t>Шифрланған </a:t>
            </a:r>
            <a:r>
              <a:rPr lang="ru-RU" dirty="0" smtClean="0"/>
              <a:t>файл </a:t>
            </a:r>
            <a:r>
              <a:rPr lang="ru-RU" dirty="0" err="1" smtClean="0"/>
              <a:t>бастапқы қалпына келтіріледі</a:t>
            </a:r>
            <a:r>
              <a:rPr lang="ru-RU" dirty="0" smtClean="0"/>
              <a:t>.</a:t>
            </a:r>
          </a:p>
          <a:p>
            <a:pPr>
              <a:buNone/>
            </a:pPr>
            <a:r>
              <a:rPr lang="ru-RU" dirty="0" smtClean="0"/>
              <a:t>4. </a:t>
            </a:r>
            <a:r>
              <a:rPr lang="ru-RU" dirty="0" err="1" smtClean="0"/>
              <a:t>Файлды</a:t>
            </a:r>
            <a:r>
              <a:rPr lang="ru-RU" dirty="0" smtClean="0"/>
              <a:t> </a:t>
            </a:r>
            <a:r>
              <a:rPr lang="ru-RU" dirty="0" err="1" smtClean="0"/>
              <a:t>сақтау: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err="1" smtClean="0"/>
              <a:t>Өңделген </a:t>
            </a:r>
            <a:r>
              <a:rPr lang="ru-RU" dirty="0" smtClean="0"/>
              <a:t>файл </a:t>
            </a:r>
            <a:r>
              <a:rPr lang="ru-RU" dirty="0" err="1" smtClean="0"/>
              <a:t>көрсетілген орынға сақталады</a:t>
            </a:r>
            <a:r>
              <a:rPr lang="ru-RU" dirty="0" smtClean="0"/>
              <a:t>.</a:t>
            </a:r>
          </a:p>
          <a:p>
            <a:pPr algn="ctr"/>
            <a:endParaRPr lang="ru-RU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 smtClean="0"/>
              <a:t>Бағдарламаны жасау</a:t>
            </a:r>
            <a:r>
              <a:rPr lang="ru-RU" dirty="0" smtClean="0"/>
              <a:t> </a:t>
            </a:r>
            <a:r>
              <a:rPr lang="ru-RU" dirty="0" err="1" smtClean="0"/>
              <a:t>кезеңдері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 algn="ctr">
              <a:buNone/>
            </a:pPr>
            <a:r>
              <a:rPr lang="ru-RU" dirty="0" smtClean="0"/>
              <a:t>1.Жоспарлау</a:t>
            </a:r>
          </a:p>
          <a:p>
            <a:pPr marL="514350" indent="-514350" algn="ctr">
              <a:buNone/>
            </a:pPr>
            <a:r>
              <a:rPr lang="ru-RU" dirty="0" smtClean="0"/>
              <a:t>	</a:t>
            </a:r>
            <a:r>
              <a:rPr lang="ru-RU" dirty="0" err="1" smtClean="0"/>
              <a:t>↓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err="1" smtClean="0"/>
              <a:t>Бағдарламаның мақсаты </a:t>
            </a:r>
            <a:r>
              <a:rPr lang="ru-RU" dirty="0" smtClean="0"/>
              <a:t>мен </a:t>
            </a:r>
            <a:r>
              <a:rPr lang="ru-RU" dirty="0" err="1" smtClean="0"/>
              <a:t>функцияларын</a:t>
            </a:r>
            <a:r>
              <a:rPr lang="ru-RU" dirty="0" smtClean="0"/>
              <a:t> </a:t>
            </a:r>
            <a:r>
              <a:rPr lang="ru-RU" dirty="0" err="1" smtClean="0"/>
              <a:t>анықтау</a:t>
            </a:r>
            <a:endParaRPr lang="ru-RU" dirty="0" smtClean="0"/>
          </a:p>
          <a:p>
            <a:pPr algn="ctr">
              <a:buNone/>
            </a:pPr>
            <a:r>
              <a:rPr lang="ru-RU" dirty="0" smtClean="0"/>
              <a:t>2. </a:t>
            </a:r>
            <a:r>
              <a:rPr lang="en-US" dirty="0" smtClean="0"/>
              <a:t>AES-256 </a:t>
            </a:r>
            <a:r>
              <a:rPr lang="ru-RU" dirty="0" err="1" smtClean="0"/>
              <a:t>таңдау</a:t>
            </a:r>
            <a:endParaRPr lang="ru-RU" dirty="0" smtClean="0"/>
          </a:p>
          <a:p>
            <a:pPr algn="ctr">
              <a:buNone/>
            </a:pPr>
            <a:r>
              <a:rPr lang="ru-RU" dirty="0" smtClean="0"/>
              <a:t>	</a:t>
            </a:r>
            <a:r>
              <a:rPr lang="ru-RU" dirty="0" err="1" smtClean="0"/>
              <a:t>↓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err="1" smtClean="0"/>
              <a:t>Шифрлау</a:t>
            </a:r>
            <a:r>
              <a:rPr lang="ru-RU" dirty="0" smtClean="0"/>
              <a:t> </a:t>
            </a:r>
            <a:r>
              <a:rPr lang="ru-RU" dirty="0" err="1" smtClean="0"/>
              <a:t>алгоритмін</a:t>
            </a:r>
            <a:r>
              <a:rPr lang="ru-RU" dirty="0" smtClean="0"/>
              <a:t> </a:t>
            </a:r>
            <a:r>
              <a:rPr lang="ru-RU" dirty="0" err="1" smtClean="0"/>
              <a:t>жобада</a:t>
            </a:r>
            <a:r>
              <a:rPr lang="ru-RU" dirty="0" smtClean="0"/>
              <a:t> </a:t>
            </a:r>
            <a:r>
              <a:rPr lang="ru-RU" dirty="0" err="1" smtClean="0"/>
              <a:t>қолдану</a:t>
            </a:r>
            <a:endParaRPr lang="ru-RU" dirty="0" smtClean="0"/>
          </a:p>
          <a:p>
            <a:pPr algn="ctr">
              <a:buNone/>
            </a:pPr>
            <a:r>
              <a:rPr lang="ru-RU" dirty="0" smtClean="0"/>
              <a:t>3. Код </a:t>
            </a:r>
            <a:r>
              <a:rPr lang="ru-RU" dirty="0" err="1" smtClean="0"/>
              <a:t>жазу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err="1" smtClean="0"/>
              <a:t>↓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err="1" smtClean="0"/>
              <a:t>Файлды</a:t>
            </a:r>
            <a:r>
              <a:rPr lang="ru-RU" dirty="0" smtClean="0"/>
              <a:t> </a:t>
            </a:r>
            <a:r>
              <a:rPr lang="ru-RU" dirty="0" err="1" smtClean="0"/>
              <a:t>таңдау</a:t>
            </a:r>
            <a:r>
              <a:rPr lang="ru-RU" dirty="0" smtClean="0"/>
              <a:t>, </a:t>
            </a:r>
            <a:r>
              <a:rPr lang="ru-RU" dirty="0" err="1" smtClean="0"/>
              <a:t>шифрлау</a:t>
            </a:r>
            <a:r>
              <a:rPr lang="ru-RU" dirty="0" smtClean="0"/>
              <a:t> </a:t>
            </a:r>
            <a:r>
              <a:rPr lang="ru-RU" dirty="0" err="1" smtClean="0"/>
              <a:t>және дешифрлау</a:t>
            </a:r>
            <a:r>
              <a:rPr lang="ru-RU" dirty="0" smtClean="0"/>
              <a:t> </a:t>
            </a:r>
            <a:r>
              <a:rPr lang="ru-RU" dirty="0" err="1" smtClean="0"/>
              <a:t>функцияларын</a:t>
            </a:r>
            <a:r>
              <a:rPr lang="ru-RU" dirty="0" smtClean="0"/>
              <a:t> </a:t>
            </a:r>
            <a:r>
              <a:rPr lang="ru-RU" dirty="0" err="1" smtClean="0"/>
              <a:t>жасау</a:t>
            </a:r>
            <a:endParaRPr lang="ru-RU" dirty="0" smtClean="0"/>
          </a:p>
          <a:p>
            <a:pPr algn="ctr">
              <a:buNone/>
            </a:pPr>
            <a:r>
              <a:rPr lang="ru-RU" dirty="0" smtClean="0"/>
              <a:t>4. </a:t>
            </a:r>
            <a:r>
              <a:rPr lang="ru-RU" dirty="0" err="1" smtClean="0"/>
              <a:t>Тестілеу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err="1" smtClean="0"/>
              <a:t>↓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err="1" smtClean="0"/>
              <a:t>Әртүрлі файлдармен</a:t>
            </a:r>
            <a:r>
              <a:rPr lang="ru-RU" dirty="0" smtClean="0"/>
              <a:t> </a:t>
            </a:r>
            <a:r>
              <a:rPr lang="ru-RU" dirty="0" err="1" smtClean="0"/>
              <a:t>бағдарламаның жұмысын тексеру</a:t>
            </a:r>
            <a:endParaRPr lang="ru-RU" dirty="0" smtClean="0"/>
          </a:p>
          <a:p>
            <a:pPr algn="ctr">
              <a:buNone/>
            </a:pPr>
            <a:r>
              <a:rPr lang="ru-RU" dirty="0" smtClean="0"/>
              <a:t>5. </a:t>
            </a:r>
            <a:r>
              <a:rPr lang="ru-RU" dirty="0" err="1" smtClean="0"/>
              <a:t>Нәтиже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err="1" smtClean="0"/>
              <a:t>↓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err="1" smtClean="0"/>
              <a:t>Қауіпсіз </a:t>
            </a:r>
            <a:r>
              <a:rPr lang="ru-RU" dirty="0" smtClean="0"/>
              <a:t>файл </a:t>
            </a:r>
            <a:r>
              <a:rPr lang="ru-RU" dirty="0" err="1" smtClean="0"/>
              <a:t>шифрлау</a:t>
            </a:r>
            <a:r>
              <a:rPr lang="ru-RU" dirty="0" smtClean="0"/>
              <a:t> </a:t>
            </a:r>
            <a:r>
              <a:rPr lang="ru-RU" dirty="0" err="1" smtClean="0"/>
              <a:t>бағдарламасын алу</a:t>
            </a:r>
            <a:endParaRPr lang="ru-RU" dirty="0" smtClean="0"/>
          </a:p>
          <a:p>
            <a:pPr algn="ctr"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55576" y="1"/>
            <a:ext cx="7772400" cy="1052736"/>
          </a:xfrm>
        </p:spPr>
        <p:txBody>
          <a:bodyPr>
            <a:normAutofit/>
          </a:bodyPr>
          <a:lstStyle/>
          <a:p>
            <a:pPr algn="ctr"/>
            <a:r>
              <a:rPr lang="ru-RU" dirty="0" err="1" smtClean="0"/>
              <a:t>Бағдарламаның жұмысын тексеру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3568" y="5013176"/>
            <a:ext cx="7772400" cy="761876"/>
          </a:xfrm>
        </p:spPr>
        <p:txBody>
          <a:bodyPr>
            <a:normAutofit/>
          </a:bodyPr>
          <a:lstStyle/>
          <a:p>
            <a:r>
              <a:rPr lang="ru-RU" dirty="0" err="1" smtClean="0">
                <a:solidFill>
                  <a:schemeClr val="tx1"/>
                </a:solidFill>
              </a:rPr>
              <a:t>Тестілеу</a:t>
            </a: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ru-RU" dirty="0" err="1" smtClean="0">
                <a:solidFill>
                  <a:schemeClr val="tx1"/>
                </a:solidFill>
              </a:rPr>
              <a:t>барысында</a:t>
            </a: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ru-RU" dirty="0" err="1" smtClean="0">
                <a:solidFill>
                  <a:schemeClr val="tx1"/>
                </a:solidFill>
              </a:rPr>
              <a:t>файлды</a:t>
            </a: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ru-RU" dirty="0" err="1" smtClean="0">
                <a:solidFill>
                  <a:schemeClr val="tx1"/>
                </a:solidFill>
              </a:rPr>
              <a:t>шифрлау</a:t>
            </a: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ru-RU" dirty="0" err="1" smtClean="0">
                <a:solidFill>
                  <a:schemeClr val="tx1"/>
                </a:solidFill>
              </a:rPr>
              <a:t>және дешифрлау</a:t>
            </a: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ru-RU" dirty="0" err="1" smtClean="0">
                <a:solidFill>
                  <a:schemeClr val="tx1"/>
                </a:solidFill>
              </a:rPr>
              <a:t>функцияларының дұрыс жұмыс істеуі</a:t>
            </a: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ru-RU" dirty="0" err="1" smtClean="0">
                <a:solidFill>
                  <a:schemeClr val="tx1"/>
                </a:solidFill>
              </a:rPr>
              <a:t>тексеріледі</a:t>
            </a:r>
            <a:r>
              <a:rPr lang="ru-RU" dirty="0" smtClean="0">
                <a:solidFill>
                  <a:schemeClr val="tx1"/>
                </a:solidFill>
              </a:rPr>
              <a:t>.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772816"/>
            <a:ext cx="7488831" cy="2952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Күтілетін нәтиже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ru-RU" dirty="0" err="1" smtClean="0"/>
              <a:t>Жоба</a:t>
            </a:r>
            <a:r>
              <a:rPr lang="ru-RU" dirty="0" smtClean="0"/>
              <a:t> </a:t>
            </a:r>
            <a:r>
              <a:rPr lang="ru-RU" dirty="0" err="1" smtClean="0"/>
              <a:t>аяқталғаннан кейін</a:t>
            </a:r>
            <a:r>
              <a:rPr lang="ru-RU" dirty="0" smtClean="0"/>
              <a:t>:</a:t>
            </a:r>
          </a:p>
          <a:p>
            <a:r>
              <a:rPr lang="ru-RU" dirty="0" err="1" smtClean="0"/>
              <a:t>Кез</a:t>
            </a:r>
            <a:r>
              <a:rPr lang="ru-RU" dirty="0" smtClean="0"/>
              <a:t> </a:t>
            </a:r>
            <a:r>
              <a:rPr lang="ru-RU" dirty="0" err="1" smtClean="0"/>
              <a:t>келген</a:t>
            </a:r>
            <a:r>
              <a:rPr lang="ru-RU" dirty="0" smtClean="0"/>
              <a:t> </a:t>
            </a:r>
            <a:r>
              <a:rPr lang="ru-RU" dirty="0" err="1" smtClean="0"/>
              <a:t>таңдалған файлды</a:t>
            </a:r>
            <a:r>
              <a:rPr lang="ru-RU" dirty="0" smtClean="0"/>
              <a:t> </a:t>
            </a:r>
            <a:r>
              <a:rPr lang="ru-RU" dirty="0" err="1" smtClean="0"/>
              <a:t>шифрлау</a:t>
            </a:r>
            <a:r>
              <a:rPr lang="ru-RU" dirty="0" smtClean="0"/>
              <a:t> </a:t>
            </a:r>
            <a:r>
              <a:rPr lang="ru-RU" dirty="0" err="1" smtClean="0"/>
              <a:t>мүмкіндігі болады</a:t>
            </a:r>
            <a:r>
              <a:rPr lang="ru-RU" dirty="0" smtClean="0"/>
              <a:t>. </a:t>
            </a:r>
          </a:p>
          <a:p>
            <a:r>
              <a:rPr lang="en-US" dirty="0" smtClean="0"/>
              <a:t>AES-256 </a:t>
            </a:r>
            <a:r>
              <a:rPr lang="ru-RU" dirty="0" err="1" smtClean="0"/>
              <a:t>алгоритмі</a:t>
            </a:r>
            <a:r>
              <a:rPr lang="ru-RU" dirty="0" smtClean="0"/>
              <a:t> </a:t>
            </a:r>
            <a:r>
              <a:rPr lang="ru-RU" dirty="0" err="1" smtClean="0"/>
              <a:t>арқылы </a:t>
            </a:r>
            <a:r>
              <a:rPr lang="ru-RU" dirty="0" smtClean="0"/>
              <a:t>файл </a:t>
            </a:r>
            <a:r>
              <a:rPr lang="ru-RU" dirty="0" err="1" smtClean="0"/>
              <a:t>қорғалады</a:t>
            </a:r>
            <a:r>
              <a:rPr lang="ru-RU" dirty="0" smtClean="0"/>
              <a:t>. </a:t>
            </a:r>
          </a:p>
          <a:p>
            <a:r>
              <a:rPr lang="ru-RU" dirty="0" err="1" smtClean="0"/>
              <a:t>Шифрланған файлды</a:t>
            </a:r>
            <a:r>
              <a:rPr lang="ru-RU" dirty="0" smtClean="0"/>
              <a:t> </a:t>
            </a:r>
            <a:r>
              <a:rPr lang="ru-RU" dirty="0" err="1" smtClean="0"/>
              <a:t>бастапқы күйіне қайтаруға болады</a:t>
            </a:r>
            <a:r>
              <a:rPr lang="ru-RU" dirty="0" smtClean="0"/>
              <a:t>. </a:t>
            </a:r>
          </a:p>
          <a:p>
            <a:r>
              <a:rPr lang="ru-RU" dirty="0" err="1" smtClean="0"/>
              <a:t>Файлдағы ақпаратты рұқсатсыз оқудан қорғау қамтамасыз етіледі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260648"/>
            <a:ext cx="7200799" cy="5938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476672"/>
            <a:ext cx="8208912" cy="5184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55576" y="188641"/>
            <a:ext cx="7772400" cy="936104"/>
          </a:xfrm>
        </p:spPr>
        <p:txBody>
          <a:bodyPr/>
          <a:lstStyle/>
          <a:p>
            <a:pPr algn="ctr"/>
            <a:r>
              <a:rPr lang="ru-RU" dirty="0" err="1" smtClean="0"/>
              <a:t>Қорытынды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1560" y="2636912"/>
            <a:ext cx="7772400" cy="2088232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AES-256 — </a:t>
            </a:r>
            <a:r>
              <a:rPr lang="ru-RU" dirty="0" err="1" smtClean="0">
                <a:solidFill>
                  <a:schemeClr val="tx1"/>
                </a:solidFill>
              </a:rPr>
              <a:t>файлдарды</a:t>
            </a: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ru-RU" dirty="0" err="1" smtClean="0">
                <a:solidFill>
                  <a:schemeClr val="tx1"/>
                </a:solidFill>
              </a:rPr>
              <a:t>қорғауға арналған сенімді</a:t>
            </a: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ru-RU" dirty="0" err="1" smtClean="0">
                <a:solidFill>
                  <a:schemeClr val="tx1"/>
                </a:solidFill>
              </a:rPr>
              <a:t>шифрлау</a:t>
            </a: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ru-RU" dirty="0" err="1" smtClean="0">
                <a:solidFill>
                  <a:schemeClr val="tx1"/>
                </a:solidFill>
              </a:rPr>
              <a:t>алгоритмі</a:t>
            </a:r>
            <a:r>
              <a:rPr lang="ru-RU" dirty="0" smtClean="0">
                <a:solidFill>
                  <a:schemeClr val="tx1"/>
                </a:solidFill>
              </a:rPr>
              <a:t>. </a:t>
            </a:r>
            <a:r>
              <a:rPr lang="ru-RU" dirty="0" err="1" smtClean="0">
                <a:solidFill>
                  <a:schemeClr val="tx1"/>
                </a:solidFill>
              </a:rPr>
              <a:t>Жоба</a:t>
            </a: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ru-RU" dirty="0" err="1" smtClean="0">
                <a:solidFill>
                  <a:schemeClr val="tx1"/>
                </a:solidFill>
              </a:rPr>
              <a:t>барысында</a:t>
            </a: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ru-RU" dirty="0" err="1" smtClean="0">
                <a:solidFill>
                  <a:schemeClr val="tx1"/>
                </a:solidFill>
              </a:rPr>
              <a:t>файлдарды</a:t>
            </a: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ru-RU" dirty="0" err="1" smtClean="0">
                <a:solidFill>
                  <a:schemeClr val="tx1"/>
                </a:solidFill>
              </a:rPr>
              <a:t>шифрлау</a:t>
            </a: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ru-RU" dirty="0" err="1" smtClean="0">
                <a:solidFill>
                  <a:schemeClr val="tx1"/>
                </a:solidFill>
              </a:rPr>
              <a:t>бағдарламасының құрылымы </a:t>
            </a:r>
            <a:r>
              <a:rPr lang="ru-RU" dirty="0" smtClean="0">
                <a:solidFill>
                  <a:schemeClr val="tx1"/>
                </a:solidFill>
              </a:rPr>
              <a:t>мен </a:t>
            </a:r>
            <a:r>
              <a:rPr lang="ru-RU" dirty="0" err="1" smtClean="0">
                <a:solidFill>
                  <a:schemeClr val="tx1"/>
                </a:solidFill>
              </a:rPr>
              <a:t>жұмыс алгоритмі</a:t>
            </a: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ru-RU" dirty="0" err="1" smtClean="0">
                <a:solidFill>
                  <a:schemeClr val="tx1"/>
                </a:solidFill>
              </a:rPr>
              <a:t>қарастырылды</a:t>
            </a:r>
            <a:r>
              <a:rPr lang="ru-RU" dirty="0" smtClean="0">
                <a:solidFill>
                  <a:schemeClr val="tx1"/>
                </a:solidFill>
              </a:rPr>
              <a:t>. </a:t>
            </a:r>
            <a:r>
              <a:rPr lang="ru-RU" dirty="0" err="1" smtClean="0">
                <a:solidFill>
                  <a:schemeClr val="tx1"/>
                </a:solidFill>
              </a:rPr>
              <a:t>Бағдарлама файлды</a:t>
            </a: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ru-RU" dirty="0" err="1" smtClean="0">
                <a:solidFill>
                  <a:schemeClr val="tx1"/>
                </a:solidFill>
              </a:rPr>
              <a:t>шифрлау</a:t>
            </a: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ru-RU" dirty="0" err="1" smtClean="0">
                <a:solidFill>
                  <a:schemeClr val="tx1"/>
                </a:solidFill>
              </a:rPr>
              <a:t>және кейін</a:t>
            </a: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ru-RU" dirty="0" err="1" smtClean="0">
                <a:solidFill>
                  <a:schemeClr val="tx1"/>
                </a:solidFill>
              </a:rPr>
              <a:t>дешифрлау</a:t>
            </a: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ru-RU" dirty="0" err="1" smtClean="0">
                <a:solidFill>
                  <a:schemeClr val="tx1"/>
                </a:solidFill>
              </a:rPr>
              <a:t>мүмкіндігін жүзеге асыруға бағытталған.</a:t>
            </a: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ru-RU" dirty="0" err="1" smtClean="0">
                <a:solidFill>
                  <a:schemeClr val="tx1"/>
                </a:solidFill>
              </a:rPr>
              <a:t>Жобаның негізгі</a:t>
            </a: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ru-RU" dirty="0" err="1" smtClean="0">
                <a:solidFill>
                  <a:schemeClr val="tx1"/>
                </a:solidFill>
              </a:rPr>
              <a:t>мақсаты </a:t>
            </a:r>
            <a:r>
              <a:rPr lang="ru-RU" dirty="0" smtClean="0">
                <a:solidFill>
                  <a:schemeClr val="tx1"/>
                </a:solidFill>
              </a:rPr>
              <a:t>— </a:t>
            </a:r>
            <a:r>
              <a:rPr lang="ru-RU" dirty="0" err="1" smtClean="0">
                <a:solidFill>
                  <a:schemeClr val="tx1"/>
                </a:solidFill>
              </a:rPr>
              <a:t>файлдардағы ақпараттың қауіпсіздігін арттыру</a:t>
            </a:r>
            <a:r>
              <a:rPr lang="ru-RU" dirty="0" smtClean="0">
                <a:solidFill>
                  <a:schemeClr val="tx1"/>
                </a:solidFill>
              </a:rPr>
              <a:t>.</a:t>
            </a:r>
            <a:endParaRPr lang="ru-RU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1916832"/>
            <a:ext cx="8229600" cy="2016224"/>
          </a:xfrm>
        </p:spPr>
        <p:txBody>
          <a:bodyPr>
            <a:normAutofit/>
          </a:bodyPr>
          <a:lstStyle/>
          <a:p>
            <a:pPr algn="ctr"/>
            <a:r>
              <a:rPr lang="ru-RU" b="1" dirty="0" err="1" smtClean="0"/>
              <a:t>Назарларыңызға рақмет!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ачальная">
  <a:themeElements>
    <a:clrScheme name="Начальная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Начальная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Начальная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175</TotalTime>
  <Words>545</Words>
  <Application>Microsoft Office PowerPoint</Application>
  <PresentationFormat>Экран (4:3)</PresentationFormat>
  <Paragraphs>108</Paragraphs>
  <Slides>19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0" baseType="lpstr">
      <vt:lpstr>Начальная</vt:lpstr>
      <vt:lpstr>Файл шифрлау бағдарламасын әзірлеу(AES-256)</vt:lpstr>
      <vt:lpstr>Ақпаратты қорғау — қазіргі заман талабы</vt:lpstr>
      <vt:lpstr>Шифрлау және оның жұмыс принципі</vt:lpstr>
      <vt:lpstr>Шифрлау және оның жұмыс принципі</vt:lpstr>
      <vt:lpstr>AES — заманауи шифрлау алгоритмі</vt:lpstr>
      <vt:lpstr>Aes этаптары</vt:lpstr>
      <vt:lpstr>Aes этаптары</vt:lpstr>
      <vt:lpstr>Слайд 8</vt:lpstr>
      <vt:lpstr>AES-256 қауіпсіздігі</vt:lpstr>
      <vt:lpstr>Бағдарлама не істей алады?</vt:lpstr>
      <vt:lpstr>Жобада қолданылған технологиялар</vt:lpstr>
      <vt:lpstr>Бағдарлама қандай бөліктерден тұрады?</vt:lpstr>
      <vt:lpstr>Бағдарламаны жасау кезеңдері</vt:lpstr>
      <vt:lpstr>Бағдарламаның жұмысын тексеру</vt:lpstr>
      <vt:lpstr>Күтілетін нәтиже</vt:lpstr>
      <vt:lpstr>Слайд 16</vt:lpstr>
      <vt:lpstr>Слайд 17</vt:lpstr>
      <vt:lpstr>Қорытынды</vt:lpstr>
      <vt:lpstr>Назарларыңызға рақмет!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Файл шифрлау бағдарламасын әзірлеу(AES-256)</dc:title>
  <dc:creator>77773</dc:creator>
  <cp:lastModifiedBy>77773</cp:lastModifiedBy>
  <cp:revision>6</cp:revision>
  <dcterms:created xsi:type="dcterms:W3CDTF">2026-09-05T06:54:59Z</dcterms:created>
  <dcterms:modified xsi:type="dcterms:W3CDTF">2026-10-12T07:25:57Z</dcterms:modified>
</cp:coreProperties>
</file>